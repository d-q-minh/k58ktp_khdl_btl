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C9E1EA-9CEF-474A-BC8C-0005D0757EB9}" type="datetimeFigureOut">
              <a:rPr lang="en-US" smtClean="0"/>
              <a:t>20-Jun-26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D8C0C7-47B8-4763-A65F-1EF0F449F0D5}" type="slidenum">
              <a:rPr lang="en-US" smtClean="0"/>
              <a:t>‹#›</a:t>
            </a:fld>
            <a:endParaRPr lang="en-US"/>
          </a:p>
        </p:txBody>
      </p:sp>
    </p:spTree>
    <p:extLst>
      <p:ext uri="{BB962C8B-B14F-4D97-AF65-F5344CB8AC3E}">
        <p14:creationId xmlns:p14="http://schemas.microsoft.com/office/powerpoint/2010/main" val="3169486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D8C0C7-47B8-4763-A65F-1EF0F449F0D5}" type="slidenum">
              <a:rPr lang="en-US" smtClean="0"/>
              <a:t>7</a:t>
            </a:fld>
            <a:endParaRPr lang="en-US"/>
          </a:p>
        </p:txBody>
      </p:sp>
    </p:spTree>
    <p:extLst>
      <p:ext uri="{BB962C8B-B14F-4D97-AF65-F5344CB8AC3E}">
        <p14:creationId xmlns:p14="http://schemas.microsoft.com/office/powerpoint/2010/main" val="4031317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9D3BB-E5FC-6F2D-3CCD-1D5EBFC9B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521B4-B0CB-3159-045F-8E5FE0C13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262D3-A2FE-3549-E0E9-587455FC1A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F2D15C-42F7-03BF-22C8-851EEFBBB8F2}"/>
              </a:ext>
            </a:extLst>
          </p:cNvPr>
          <p:cNvSpPr>
            <a:spLocks noGrp="1"/>
          </p:cNvSpPr>
          <p:nvPr>
            <p:ph type="sldNum" sz="quarter" idx="5"/>
          </p:nvPr>
        </p:nvSpPr>
        <p:spPr/>
        <p:txBody>
          <a:bodyPr/>
          <a:lstStyle/>
          <a:p>
            <a:fld id="{86D8C0C7-47B8-4763-A65F-1EF0F449F0D5}" type="slidenum">
              <a:rPr lang="en-US" smtClean="0"/>
              <a:t>8</a:t>
            </a:fld>
            <a:endParaRPr lang="en-US"/>
          </a:p>
        </p:txBody>
      </p:sp>
    </p:spTree>
    <p:extLst>
      <p:ext uri="{BB962C8B-B14F-4D97-AF65-F5344CB8AC3E}">
        <p14:creationId xmlns:p14="http://schemas.microsoft.com/office/powerpoint/2010/main" val="617483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428BC-A502-711B-95E1-D08A6782E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EE85F-0AA4-7D18-1C1C-0BF8AA71D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EB924-F1A7-65B4-3C8B-DB8DA1F474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522B60-8AFD-615D-0258-90110FF1B5F6}"/>
              </a:ext>
            </a:extLst>
          </p:cNvPr>
          <p:cNvSpPr>
            <a:spLocks noGrp="1"/>
          </p:cNvSpPr>
          <p:nvPr>
            <p:ph type="sldNum" sz="quarter" idx="5"/>
          </p:nvPr>
        </p:nvSpPr>
        <p:spPr/>
        <p:txBody>
          <a:bodyPr/>
          <a:lstStyle/>
          <a:p>
            <a:fld id="{86D8C0C7-47B8-4763-A65F-1EF0F449F0D5}" type="slidenum">
              <a:rPr lang="en-US" smtClean="0"/>
              <a:t>9</a:t>
            </a:fld>
            <a:endParaRPr lang="en-US"/>
          </a:p>
        </p:txBody>
      </p:sp>
    </p:spTree>
    <p:extLst>
      <p:ext uri="{BB962C8B-B14F-4D97-AF65-F5344CB8AC3E}">
        <p14:creationId xmlns:p14="http://schemas.microsoft.com/office/powerpoint/2010/main" val="3976401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D1F43-D4B2-F78A-5809-8019969A2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728C6-6A7F-0354-B5D1-DF58127F9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09B5F-8AC5-FF0E-A3CA-4CA8392B5B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4E315F-73A4-0BDD-AB10-A29B3516DEAB}"/>
              </a:ext>
            </a:extLst>
          </p:cNvPr>
          <p:cNvSpPr>
            <a:spLocks noGrp="1"/>
          </p:cNvSpPr>
          <p:nvPr>
            <p:ph type="sldNum" sz="quarter" idx="5"/>
          </p:nvPr>
        </p:nvSpPr>
        <p:spPr/>
        <p:txBody>
          <a:bodyPr/>
          <a:lstStyle/>
          <a:p>
            <a:fld id="{86D8C0C7-47B8-4763-A65F-1EF0F449F0D5}" type="slidenum">
              <a:rPr lang="en-US" smtClean="0"/>
              <a:t>10</a:t>
            </a:fld>
            <a:endParaRPr lang="en-US"/>
          </a:p>
        </p:txBody>
      </p:sp>
    </p:spTree>
    <p:extLst>
      <p:ext uri="{BB962C8B-B14F-4D97-AF65-F5344CB8AC3E}">
        <p14:creationId xmlns:p14="http://schemas.microsoft.com/office/powerpoint/2010/main" val="3091687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648A5-769C-6131-E46C-E6E83BD56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4F815-05C2-EBC1-210F-D1BB37EA6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91200-DE4E-BD90-7DA6-BB22E23B0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FF5201-74A0-B334-0A14-E9F3EE9E22DA}"/>
              </a:ext>
            </a:extLst>
          </p:cNvPr>
          <p:cNvSpPr>
            <a:spLocks noGrp="1"/>
          </p:cNvSpPr>
          <p:nvPr>
            <p:ph type="sldNum" sz="quarter" idx="5"/>
          </p:nvPr>
        </p:nvSpPr>
        <p:spPr/>
        <p:txBody>
          <a:bodyPr/>
          <a:lstStyle/>
          <a:p>
            <a:fld id="{86D8C0C7-47B8-4763-A65F-1EF0F449F0D5}" type="slidenum">
              <a:rPr lang="en-US" smtClean="0"/>
              <a:t>11</a:t>
            </a:fld>
            <a:endParaRPr lang="en-US"/>
          </a:p>
        </p:txBody>
      </p:sp>
    </p:spTree>
    <p:extLst>
      <p:ext uri="{BB962C8B-B14F-4D97-AF65-F5344CB8AC3E}">
        <p14:creationId xmlns:p14="http://schemas.microsoft.com/office/powerpoint/2010/main" val="3451600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CE70B-4D0E-3CB6-7DC4-CC5AEA9356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74BEE-6710-6129-F9AF-3F3D6E353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5A3C56-CE07-6620-3D7D-25C790A55E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FE80BA-4C85-93D2-DADD-99DFE8CDE648}"/>
              </a:ext>
            </a:extLst>
          </p:cNvPr>
          <p:cNvSpPr>
            <a:spLocks noGrp="1"/>
          </p:cNvSpPr>
          <p:nvPr>
            <p:ph type="sldNum" sz="quarter" idx="5"/>
          </p:nvPr>
        </p:nvSpPr>
        <p:spPr/>
        <p:txBody>
          <a:bodyPr/>
          <a:lstStyle/>
          <a:p>
            <a:fld id="{86D8C0C7-47B8-4763-A65F-1EF0F449F0D5}" type="slidenum">
              <a:rPr lang="en-US" smtClean="0"/>
              <a:t>12</a:t>
            </a:fld>
            <a:endParaRPr lang="en-US"/>
          </a:p>
        </p:txBody>
      </p:sp>
    </p:spTree>
    <p:extLst>
      <p:ext uri="{BB962C8B-B14F-4D97-AF65-F5344CB8AC3E}">
        <p14:creationId xmlns:p14="http://schemas.microsoft.com/office/powerpoint/2010/main" val="102159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24225-F7F9-1F27-1C30-C8A4BBF8C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E929D8-A2C1-61E7-D39C-0C00867C41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2AD5A-D7A9-40FC-D2E6-7DA4E2AC50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AEE844-2095-545C-D6A3-4A9E395A877F}"/>
              </a:ext>
            </a:extLst>
          </p:cNvPr>
          <p:cNvSpPr>
            <a:spLocks noGrp="1"/>
          </p:cNvSpPr>
          <p:nvPr>
            <p:ph type="sldNum" sz="quarter" idx="5"/>
          </p:nvPr>
        </p:nvSpPr>
        <p:spPr/>
        <p:txBody>
          <a:bodyPr/>
          <a:lstStyle/>
          <a:p>
            <a:fld id="{86D8C0C7-47B8-4763-A65F-1EF0F449F0D5}" type="slidenum">
              <a:rPr lang="en-US" smtClean="0"/>
              <a:t>13</a:t>
            </a:fld>
            <a:endParaRPr lang="en-US"/>
          </a:p>
        </p:txBody>
      </p:sp>
    </p:spTree>
    <p:extLst>
      <p:ext uri="{BB962C8B-B14F-4D97-AF65-F5344CB8AC3E}">
        <p14:creationId xmlns:p14="http://schemas.microsoft.com/office/powerpoint/2010/main" val="1507428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811E-80D5-A65E-55C5-99365BA646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A7B516-2DBD-20ED-DB55-19CCE40B66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56CCC6-1738-6929-7DAA-985322AB946D}"/>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5" name="Footer Placeholder 4">
            <a:extLst>
              <a:ext uri="{FF2B5EF4-FFF2-40B4-BE49-F238E27FC236}">
                <a16:creationId xmlns:a16="http://schemas.microsoft.com/office/drawing/2014/main" id="{FE637CD7-CB42-8522-1C3B-E9466D9103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212EDF-E82D-3D32-E7AA-6E82699E044E}"/>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2590648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B59A-434E-DE57-F227-3B13206EE4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991EC4-161A-491E-3442-B974DAA53F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30D081-5AE4-1F16-B585-7B5EF6484574}"/>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5" name="Footer Placeholder 4">
            <a:extLst>
              <a:ext uri="{FF2B5EF4-FFF2-40B4-BE49-F238E27FC236}">
                <a16:creationId xmlns:a16="http://schemas.microsoft.com/office/drawing/2014/main" id="{304475E9-A8F4-3F5A-0771-EDE0C08FED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C1EEA0-5077-8514-92C1-6A37CE378F81}"/>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2358411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64394-8489-3FA0-4342-F7D5B92D5D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28994C-D5E9-8A0D-AF79-6829437712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6D0E64-03E7-A2BC-D7CA-9B1F154BE40B}"/>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5" name="Footer Placeholder 4">
            <a:extLst>
              <a:ext uri="{FF2B5EF4-FFF2-40B4-BE49-F238E27FC236}">
                <a16:creationId xmlns:a16="http://schemas.microsoft.com/office/drawing/2014/main" id="{086B9BFC-1C72-C9B1-F7B2-F0724B44A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D00877-6ED7-5931-50A3-9646C45EC469}"/>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1441562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EED4B-627F-D791-C650-AA086C8349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B5A608-EE4C-D0B0-CE47-805277CDA9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2038F7-494F-35AB-E298-AAFE6FF8B4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1A47DC-F2C7-AAC8-65C1-FFC6E4F70B72}"/>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6" name="Footer Placeholder 5">
            <a:extLst>
              <a:ext uri="{FF2B5EF4-FFF2-40B4-BE49-F238E27FC236}">
                <a16:creationId xmlns:a16="http://schemas.microsoft.com/office/drawing/2014/main" id="{B9858284-6297-89F5-3135-F96622E881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6AB142-D098-7941-F20A-75A5DCC30E90}"/>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4294203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CD75-91A6-ED67-2878-49BC488953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52D4B0-3C07-3EF7-AA8C-228901101F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56ACF3-7D96-0809-8AF1-AFBB02061C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39E736-1639-0227-2B12-1E198370CE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79F78A-CFCD-A7C3-9240-20A333CCF2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0B730E-2ADD-D042-471D-FB7779747039}"/>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8" name="Footer Placeholder 7">
            <a:extLst>
              <a:ext uri="{FF2B5EF4-FFF2-40B4-BE49-F238E27FC236}">
                <a16:creationId xmlns:a16="http://schemas.microsoft.com/office/drawing/2014/main" id="{0D8404AC-0A79-693E-DB4D-B9C1A08ED7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0BC50B-7604-EDEE-2F0E-47D9AE3B1498}"/>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1718744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DA654-EF91-2826-DB25-9ED1C71067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2E9F97-3CEE-782B-3721-528665DBDC22}"/>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4" name="Footer Placeholder 3">
            <a:extLst>
              <a:ext uri="{FF2B5EF4-FFF2-40B4-BE49-F238E27FC236}">
                <a16:creationId xmlns:a16="http://schemas.microsoft.com/office/drawing/2014/main" id="{76305FF9-A640-5CAC-31A6-6B298EA809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3D12A2-745C-83A8-A834-AD0FC3EA547D}"/>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3323787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DD812A-5112-CEA8-D28F-0A095CDE3B9A}"/>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3" name="Footer Placeholder 2">
            <a:extLst>
              <a:ext uri="{FF2B5EF4-FFF2-40B4-BE49-F238E27FC236}">
                <a16:creationId xmlns:a16="http://schemas.microsoft.com/office/drawing/2014/main" id="{78896A97-569E-113C-515D-2FDC796BE0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CE94D9-6A14-84E1-0AEE-41A1395BD87D}"/>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2684132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F15B4-834A-549E-741B-086CD062AF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18CD9D-2ACA-974B-6464-4F0D842843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7ED66B-5BF8-FCCB-D5C5-0D67768CC7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E1FED6-8B50-92DE-756B-CE45C289BAF3}"/>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6" name="Footer Placeholder 5">
            <a:extLst>
              <a:ext uri="{FF2B5EF4-FFF2-40B4-BE49-F238E27FC236}">
                <a16:creationId xmlns:a16="http://schemas.microsoft.com/office/drawing/2014/main" id="{5E110E43-5817-09B8-3A78-E103175C3D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CEBB68-C02C-615B-7E45-8722695B01B2}"/>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3728235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FC089-1C43-30B4-1C6A-F275901F63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5DD5D2-370C-5C20-93FC-BE129F868F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DBC5AC-6CD4-7C03-9B14-AF9A591AA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F9AA5E-AA26-F624-7C08-EF63D012B48F}"/>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6" name="Footer Placeholder 5">
            <a:extLst>
              <a:ext uri="{FF2B5EF4-FFF2-40B4-BE49-F238E27FC236}">
                <a16:creationId xmlns:a16="http://schemas.microsoft.com/office/drawing/2014/main" id="{AA4D6A3B-3745-0CD2-0D75-2B61DA4D4F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640589-9F68-202B-2DEC-817367135F67}"/>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1227063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56368-D8E0-6D89-9223-B0B49DD21B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77C48D-D886-3929-9844-07AACB4EEC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835017-6112-D148-9C89-27C2B16DA5AA}"/>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5" name="Footer Placeholder 4">
            <a:extLst>
              <a:ext uri="{FF2B5EF4-FFF2-40B4-BE49-F238E27FC236}">
                <a16:creationId xmlns:a16="http://schemas.microsoft.com/office/drawing/2014/main" id="{3C6A7231-9366-703C-8148-3CC6ED2E3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1480F-BCF8-2C32-0547-593C8214D709}"/>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1246107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4CC813-CDB4-0661-8442-CF15229F1C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9928F0-D2C9-8DD8-AC83-E2E053F7C7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500DF6-5C82-DA3A-52E1-493E90AC121A}"/>
              </a:ext>
            </a:extLst>
          </p:cNvPr>
          <p:cNvSpPr>
            <a:spLocks noGrp="1"/>
          </p:cNvSpPr>
          <p:nvPr>
            <p:ph type="dt" sz="half" idx="10"/>
          </p:nvPr>
        </p:nvSpPr>
        <p:spPr/>
        <p:txBody>
          <a:bodyPr/>
          <a:lstStyle/>
          <a:p>
            <a:fld id="{E674AA8C-7C81-4E4B-8AE7-984F0FA7C06F}" type="datetimeFigureOut">
              <a:rPr lang="en-US" smtClean="0"/>
              <a:t>20-Jun-26</a:t>
            </a:fld>
            <a:endParaRPr lang="en-US"/>
          </a:p>
        </p:txBody>
      </p:sp>
      <p:sp>
        <p:nvSpPr>
          <p:cNvPr id="5" name="Footer Placeholder 4">
            <a:extLst>
              <a:ext uri="{FF2B5EF4-FFF2-40B4-BE49-F238E27FC236}">
                <a16:creationId xmlns:a16="http://schemas.microsoft.com/office/drawing/2014/main" id="{E26C986A-EA8B-6B62-732C-1A7A3A67D1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60FED-A37C-D142-006F-06E4D30E93FB}"/>
              </a:ext>
            </a:extLst>
          </p:cNvPr>
          <p:cNvSpPr>
            <a:spLocks noGrp="1"/>
          </p:cNvSpPr>
          <p:nvPr>
            <p:ph type="sldNum" sz="quarter" idx="12"/>
          </p:nvPr>
        </p:nvSpPr>
        <p:spPr/>
        <p:txBody>
          <a:bodyPr/>
          <a:lstStyle/>
          <a:p>
            <a:fld id="{3F20893E-AB38-4347-AE71-0D162BF8AFC9}" type="slidenum">
              <a:rPr lang="en-US" smtClean="0"/>
              <a:t>‹#›</a:t>
            </a:fld>
            <a:endParaRPr lang="en-US"/>
          </a:p>
        </p:txBody>
      </p:sp>
    </p:spTree>
    <p:extLst>
      <p:ext uri="{BB962C8B-B14F-4D97-AF65-F5344CB8AC3E}">
        <p14:creationId xmlns:p14="http://schemas.microsoft.com/office/powerpoint/2010/main" val="2290897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98049-7A65-9188-7FC4-D28D0D77D7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89E877-2E97-47C5-F270-26AE31CF0F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863197-EA06-F36C-B80F-428DD8374E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74AA8C-7C81-4E4B-8AE7-984F0FA7C06F}" type="datetimeFigureOut">
              <a:rPr lang="en-US" smtClean="0"/>
              <a:t>20-Jun-26</a:t>
            </a:fld>
            <a:endParaRPr lang="en-US"/>
          </a:p>
        </p:txBody>
      </p:sp>
      <p:sp>
        <p:nvSpPr>
          <p:cNvPr id="5" name="Footer Placeholder 4">
            <a:extLst>
              <a:ext uri="{FF2B5EF4-FFF2-40B4-BE49-F238E27FC236}">
                <a16:creationId xmlns:a16="http://schemas.microsoft.com/office/drawing/2014/main" id="{B603989F-DE6B-AFF4-F591-3961E746BF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775A6E3-F1B4-537C-9B20-B383258C60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20893E-AB38-4347-AE71-0D162BF8AFC9}" type="slidenum">
              <a:rPr lang="en-US" smtClean="0"/>
              <a:t>‹#›</a:t>
            </a:fld>
            <a:endParaRPr lang="en-US"/>
          </a:p>
        </p:txBody>
      </p:sp>
    </p:spTree>
    <p:extLst>
      <p:ext uri="{BB962C8B-B14F-4D97-AF65-F5344CB8AC3E}">
        <p14:creationId xmlns:p14="http://schemas.microsoft.com/office/powerpoint/2010/main" val="1161820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F0F5-114F-ACD7-E1EF-E850AABEC8C2}"/>
              </a:ext>
            </a:extLst>
          </p:cNvPr>
          <p:cNvSpPr>
            <a:spLocks noGrp="1"/>
          </p:cNvSpPr>
          <p:nvPr>
            <p:ph type="ctrTitle"/>
          </p:nvPr>
        </p:nvSpPr>
        <p:spPr>
          <a:xfrm>
            <a:off x="1524000" y="536030"/>
            <a:ext cx="9144000" cy="892886"/>
          </a:xfrm>
        </p:spPr>
        <p:txBody>
          <a:bodyPr>
            <a:normAutofit/>
          </a:bodyPr>
          <a:lstStyle/>
          <a:p>
            <a:r>
              <a:rPr lang="en-US" sz="4000" dirty="0"/>
              <a:t>Khoa </a:t>
            </a:r>
            <a:r>
              <a:rPr lang="en-US" sz="4000" dirty="0" err="1"/>
              <a:t>học</a:t>
            </a:r>
            <a:r>
              <a:rPr lang="en-US" sz="4000" dirty="0"/>
              <a:t> </a:t>
            </a:r>
            <a:r>
              <a:rPr lang="en-US" sz="4000" dirty="0" err="1"/>
              <a:t>dữ</a:t>
            </a:r>
            <a:r>
              <a:rPr lang="en-US" sz="4000" dirty="0"/>
              <a:t> </a:t>
            </a:r>
            <a:r>
              <a:rPr lang="en-US" sz="4000" dirty="0" err="1"/>
              <a:t>liệu</a:t>
            </a:r>
            <a:endParaRPr lang="en-US" sz="4000" dirty="0"/>
          </a:p>
        </p:txBody>
      </p:sp>
      <p:sp>
        <p:nvSpPr>
          <p:cNvPr id="3" name="Subtitle 2">
            <a:extLst>
              <a:ext uri="{FF2B5EF4-FFF2-40B4-BE49-F238E27FC236}">
                <a16:creationId xmlns:a16="http://schemas.microsoft.com/office/drawing/2014/main" id="{22BD0250-307E-1482-9A44-7CB8A1C7B720}"/>
              </a:ext>
            </a:extLst>
          </p:cNvPr>
          <p:cNvSpPr>
            <a:spLocks noGrp="1"/>
          </p:cNvSpPr>
          <p:nvPr>
            <p:ph type="subTitle" idx="1"/>
          </p:nvPr>
        </p:nvSpPr>
        <p:spPr>
          <a:xfrm>
            <a:off x="1886607" y="2837697"/>
            <a:ext cx="9144000" cy="1698500"/>
          </a:xfrm>
        </p:spPr>
        <p:txBody>
          <a:bodyPr>
            <a:normAutofit/>
          </a:bodyPr>
          <a:lstStyle/>
          <a:p>
            <a:pPr algn="l"/>
            <a:r>
              <a:rPr lang="en-US" dirty="0"/>
              <a:t>Sinh </a:t>
            </a:r>
            <a:r>
              <a:rPr lang="en-US" dirty="0" err="1"/>
              <a:t>viên</a:t>
            </a:r>
            <a:r>
              <a:rPr lang="en-US" dirty="0"/>
              <a:t>: Dương Quang Minh</a:t>
            </a:r>
          </a:p>
          <a:p>
            <a:pPr algn="l"/>
            <a:r>
              <a:rPr lang="en-US" dirty="0" err="1"/>
              <a:t>Lớp</a:t>
            </a:r>
            <a:r>
              <a:rPr lang="en-US" dirty="0"/>
              <a:t>: K58KTP</a:t>
            </a:r>
          </a:p>
          <a:p>
            <a:pPr algn="l"/>
            <a:r>
              <a:rPr lang="en-US" dirty="0"/>
              <a:t>MSSV: K225480106047</a:t>
            </a:r>
          </a:p>
        </p:txBody>
      </p:sp>
      <p:sp>
        <p:nvSpPr>
          <p:cNvPr id="4" name="Title 1">
            <a:extLst>
              <a:ext uri="{FF2B5EF4-FFF2-40B4-BE49-F238E27FC236}">
                <a16:creationId xmlns:a16="http://schemas.microsoft.com/office/drawing/2014/main" id="{DDEF6AA2-8FFE-1C5C-DF4E-C9A554C44399}"/>
              </a:ext>
            </a:extLst>
          </p:cNvPr>
          <p:cNvSpPr txBox="1">
            <a:spLocks/>
          </p:cNvSpPr>
          <p:nvPr/>
        </p:nvSpPr>
        <p:spPr>
          <a:xfrm>
            <a:off x="1524000" y="1428916"/>
            <a:ext cx="9144000" cy="89288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err="1"/>
              <a:t>Bài</a:t>
            </a:r>
            <a:r>
              <a:rPr lang="en-US" sz="4000" dirty="0"/>
              <a:t> </a:t>
            </a:r>
            <a:r>
              <a:rPr lang="en-US" sz="4000" dirty="0" err="1"/>
              <a:t>tập</a:t>
            </a:r>
            <a:r>
              <a:rPr lang="en-US" sz="4000" dirty="0"/>
              <a:t> </a:t>
            </a:r>
            <a:r>
              <a:rPr lang="en-US" sz="4000" dirty="0" err="1"/>
              <a:t>lớn</a:t>
            </a:r>
            <a:endParaRPr lang="en-US" sz="4000" dirty="0"/>
          </a:p>
        </p:txBody>
      </p:sp>
      <p:sp>
        <p:nvSpPr>
          <p:cNvPr id="5" name="Subtitle 2">
            <a:extLst>
              <a:ext uri="{FF2B5EF4-FFF2-40B4-BE49-F238E27FC236}">
                <a16:creationId xmlns:a16="http://schemas.microsoft.com/office/drawing/2014/main" id="{324C7722-0CEF-6275-9940-7A7AA44D9487}"/>
              </a:ext>
            </a:extLst>
          </p:cNvPr>
          <p:cNvSpPr txBox="1">
            <a:spLocks/>
          </p:cNvSpPr>
          <p:nvPr/>
        </p:nvSpPr>
        <p:spPr>
          <a:xfrm>
            <a:off x="1886607" y="4536198"/>
            <a:ext cx="9144000" cy="72948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err="1"/>
              <a:t>Đề</a:t>
            </a:r>
            <a:r>
              <a:rPr lang="en-US" dirty="0"/>
              <a:t> </a:t>
            </a:r>
            <a:r>
              <a:rPr lang="en-US" dirty="0" err="1"/>
              <a:t>tài</a:t>
            </a:r>
            <a:r>
              <a:rPr lang="en-US" dirty="0"/>
              <a:t>: </a:t>
            </a:r>
            <a:r>
              <a:rPr lang="en-US" dirty="0" err="1"/>
              <a:t>Phân</a:t>
            </a:r>
            <a:r>
              <a:rPr lang="en-US" dirty="0"/>
              <a:t> </a:t>
            </a:r>
            <a:r>
              <a:rPr lang="en-US" dirty="0" err="1"/>
              <a:t>tích</a:t>
            </a:r>
            <a:r>
              <a:rPr lang="en-US" dirty="0"/>
              <a:t> </a:t>
            </a:r>
            <a:r>
              <a:rPr lang="en-US" dirty="0" err="1"/>
              <a:t>điểm</a:t>
            </a:r>
            <a:r>
              <a:rPr lang="en-US" dirty="0"/>
              <a:t> </a:t>
            </a:r>
            <a:r>
              <a:rPr lang="en-US" dirty="0" err="1"/>
              <a:t>số</a:t>
            </a:r>
            <a:r>
              <a:rPr lang="en-US" dirty="0"/>
              <a:t> </a:t>
            </a:r>
            <a:r>
              <a:rPr lang="en-US" dirty="0" err="1"/>
              <a:t>học</a:t>
            </a:r>
            <a:r>
              <a:rPr lang="en-US" dirty="0"/>
              <a:t> </a:t>
            </a:r>
            <a:r>
              <a:rPr lang="en-US" dirty="0" err="1"/>
              <a:t>tập</a:t>
            </a:r>
            <a:r>
              <a:rPr lang="en-US" dirty="0"/>
              <a:t> </a:t>
            </a:r>
            <a:r>
              <a:rPr lang="en-US" dirty="0" err="1"/>
              <a:t>của</a:t>
            </a:r>
            <a:r>
              <a:rPr lang="en-US" dirty="0"/>
              <a:t> </a:t>
            </a:r>
            <a:r>
              <a:rPr lang="en-US" dirty="0" err="1"/>
              <a:t>sinh</a:t>
            </a:r>
            <a:r>
              <a:rPr lang="en-US" dirty="0"/>
              <a:t> </a:t>
            </a:r>
            <a:r>
              <a:rPr lang="en-US" dirty="0" err="1"/>
              <a:t>viên</a:t>
            </a:r>
            <a:r>
              <a:rPr lang="en-US" dirty="0"/>
              <a:t> </a:t>
            </a:r>
            <a:r>
              <a:rPr lang="en-US" dirty="0" err="1"/>
              <a:t>lớp</a:t>
            </a:r>
            <a:r>
              <a:rPr lang="en-US" dirty="0"/>
              <a:t> K58KTP</a:t>
            </a:r>
          </a:p>
        </p:txBody>
      </p:sp>
    </p:spTree>
    <p:extLst>
      <p:ext uri="{BB962C8B-B14F-4D97-AF65-F5344CB8AC3E}">
        <p14:creationId xmlns:p14="http://schemas.microsoft.com/office/powerpoint/2010/main" val="360414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12647-3E31-EA1E-5A43-D9EDE5BEF609}"/>
              </a:ext>
            </a:extLst>
          </p:cNvPr>
          <p:cNvSpPr>
            <a:spLocks noGrp="1"/>
          </p:cNvSpPr>
          <p:nvPr>
            <p:ph type="title"/>
          </p:nvPr>
        </p:nvSpPr>
        <p:spPr>
          <a:xfrm>
            <a:off x="838200" y="1"/>
            <a:ext cx="10515600" cy="973394"/>
          </a:xfrm>
        </p:spPr>
        <p:txBody>
          <a:bodyPr/>
          <a:lstStyle/>
          <a:p>
            <a:r>
              <a:rPr lang="en-US" dirty="0" err="1"/>
              <a:t>Giới</a:t>
            </a:r>
            <a:r>
              <a:rPr lang="en-US" dirty="0"/>
              <a:t> </a:t>
            </a:r>
            <a:r>
              <a:rPr lang="en-US" dirty="0" err="1"/>
              <a:t>thiệu</a:t>
            </a:r>
            <a:r>
              <a:rPr lang="en-US" dirty="0"/>
              <a:t> </a:t>
            </a:r>
            <a:r>
              <a:rPr lang="en-US" dirty="0" err="1"/>
              <a:t>đề</a:t>
            </a:r>
            <a:r>
              <a:rPr lang="en-US" dirty="0"/>
              <a:t> </a:t>
            </a:r>
            <a:r>
              <a:rPr lang="en-US" dirty="0" err="1"/>
              <a:t>tài</a:t>
            </a:r>
            <a:endParaRPr lang="en-US" dirty="0"/>
          </a:p>
        </p:txBody>
      </p:sp>
      <p:sp>
        <p:nvSpPr>
          <p:cNvPr id="3" name="Content Placeholder 2">
            <a:extLst>
              <a:ext uri="{FF2B5EF4-FFF2-40B4-BE49-F238E27FC236}">
                <a16:creationId xmlns:a16="http://schemas.microsoft.com/office/drawing/2014/main" id="{6BA01297-4411-3D54-9421-27CE7C9590AE}"/>
              </a:ext>
            </a:extLst>
          </p:cNvPr>
          <p:cNvSpPr>
            <a:spLocks noGrp="1"/>
          </p:cNvSpPr>
          <p:nvPr>
            <p:ph idx="1"/>
          </p:nvPr>
        </p:nvSpPr>
        <p:spPr>
          <a:xfrm>
            <a:off x="838200" y="973395"/>
            <a:ext cx="10515600" cy="1325563"/>
          </a:xfrm>
        </p:spPr>
        <p:txBody>
          <a:bodyPr/>
          <a:lstStyle/>
          <a:p>
            <a:pPr marL="0" indent="0">
              <a:buNone/>
            </a:pPr>
            <a:r>
              <a:rPr lang="en-US" dirty="0" err="1"/>
              <a:t>Phân</a:t>
            </a:r>
            <a:r>
              <a:rPr lang="en-US" dirty="0"/>
              <a:t> </a:t>
            </a:r>
            <a:r>
              <a:rPr lang="en-US" dirty="0" err="1"/>
              <a:t>tích</a:t>
            </a:r>
            <a:r>
              <a:rPr lang="en-US" dirty="0"/>
              <a:t> </a:t>
            </a:r>
            <a:r>
              <a:rPr lang="en-US" dirty="0" err="1"/>
              <a:t>điểm</a:t>
            </a:r>
            <a:r>
              <a:rPr lang="en-US" dirty="0"/>
              <a:t> </a:t>
            </a:r>
            <a:r>
              <a:rPr lang="en-US" dirty="0" err="1"/>
              <a:t>số</a:t>
            </a:r>
            <a:r>
              <a:rPr lang="en-US" dirty="0"/>
              <a:t> </a:t>
            </a:r>
            <a:r>
              <a:rPr lang="en-US" dirty="0" err="1"/>
              <a:t>học</a:t>
            </a:r>
            <a:r>
              <a:rPr lang="en-US" dirty="0"/>
              <a:t> </a:t>
            </a:r>
            <a:r>
              <a:rPr lang="en-US" dirty="0" err="1"/>
              <a:t>tập</a:t>
            </a:r>
            <a:r>
              <a:rPr lang="en-US" dirty="0"/>
              <a:t> </a:t>
            </a:r>
            <a:r>
              <a:rPr lang="en-US" dirty="0" err="1"/>
              <a:t>của</a:t>
            </a:r>
            <a:r>
              <a:rPr lang="en-US" dirty="0"/>
              <a:t> </a:t>
            </a:r>
            <a:r>
              <a:rPr lang="en-US" dirty="0" err="1"/>
              <a:t>sinh</a:t>
            </a:r>
            <a:r>
              <a:rPr lang="en-US" dirty="0"/>
              <a:t> </a:t>
            </a:r>
            <a:r>
              <a:rPr lang="en-US" dirty="0" err="1"/>
              <a:t>viên</a:t>
            </a:r>
            <a:r>
              <a:rPr lang="en-US" dirty="0"/>
              <a:t> </a:t>
            </a:r>
            <a:r>
              <a:rPr lang="en-US" dirty="0" err="1"/>
              <a:t>lớp</a:t>
            </a:r>
            <a:r>
              <a:rPr lang="en-US" dirty="0"/>
              <a:t> K58KTP</a:t>
            </a:r>
          </a:p>
          <a:p>
            <a:pPr marL="0" indent="0">
              <a:buNone/>
            </a:pPr>
            <a:r>
              <a:rPr lang="en-US" dirty="0" err="1"/>
              <a:t>dữ</a:t>
            </a:r>
            <a:r>
              <a:rPr lang="en-US" dirty="0"/>
              <a:t> </a:t>
            </a:r>
            <a:r>
              <a:rPr lang="en-US" dirty="0" err="1"/>
              <a:t>liệu</a:t>
            </a:r>
            <a:r>
              <a:rPr lang="en-US" dirty="0"/>
              <a:t>: </a:t>
            </a:r>
            <a:r>
              <a:rPr lang="en-US" dirty="0" err="1"/>
              <a:t>Dữ</a:t>
            </a:r>
            <a:r>
              <a:rPr lang="en-US" dirty="0"/>
              <a:t> </a:t>
            </a:r>
            <a:r>
              <a:rPr lang="en-US" dirty="0" err="1"/>
              <a:t>liệu</a:t>
            </a:r>
            <a:r>
              <a:rPr lang="en-US" dirty="0"/>
              <a:t> </a:t>
            </a:r>
            <a:r>
              <a:rPr lang="en-US" dirty="0" err="1"/>
              <a:t>điểm</a:t>
            </a:r>
            <a:r>
              <a:rPr lang="en-US" dirty="0"/>
              <a:t> </a:t>
            </a:r>
            <a:r>
              <a:rPr lang="en-US" dirty="0" err="1"/>
              <a:t>thực</a:t>
            </a:r>
            <a:r>
              <a:rPr lang="en-US" dirty="0"/>
              <a:t> </a:t>
            </a:r>
            <a:r>
              <a:rPr lang="en-US" dirty="0" err="1"/>
              <a:t>tế</a:t>
            </a:r>
            <a:r>
              <a:rPr lang="en-US" dirty="0"/>
              <a:t> </a:t>
            </a:r>
            <a:r>
              <a:rPr lang="en-US" dirty="0" err="1"/>
              <a:t>của</a:t>
            </a:r>
            <a:r>
              <a:rPr lang="en-US" dirty="0"/>
              <a:t> </a:t>
            </a:r>
            <a:r>
              <a:rPr lang="en-US" dirty="0" err="1"/>
              <a:t>lớp</a:t>
            </a:r>
            <a:r>
              <a:rPr lang="en-US" dirty="0"/>
              <a:t> K58KTP</a:t>
            </a:r>
          </a:p>
          <a:p>
            <a:pPr marL="0" indent="0">
              <a:buNone/>
            </a:pPr>
            <a:endParaRPr lang="en-US" dirty="0"/>
          </a:p>
        </p:txBody>
      </p:sp>
      <p:sp>
        <p:nvSpPr>
          <p:cNvPr id="4" name="Content Placeholder 2">
            <a:extLst>
              <a:ext uri="{FF2B5EF4-FFF2-40B4-BE49-F238E27FC236}">
                <a16:creationId xmlns:a16="http://schemas.microsoft.com/office/drawing/2014/main" id="{5C2DF8E6-C7B6-F95E-8034-96B882EC25C2}"/>
              </a:ext>
            </a:extLst>
          </p:cNvPr>
          <p:cNvSpPr txBox="1">
            <a:spLocks/>
          </p:cNvSpPr>
          <p:nvPr/>
        </p:nvSpPr>
        <p:spPr>
          <a:xfrm>
            <a:off x="838200" y="2298958"/>
            <a:ext cx="10515600" cy="45590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a:t>Mục</a:t>
            </a:r>
            <a:r>
              <a:rPr lang="en-US" dirty="0"/>
              <a:t> </a:t>
            </a:r>
            <a:r>
              <a:rPr lang="en-US" dirty="0" err="1"/>
              <a:t>tiêu</a:t>
            </a:r>
            <a:r>
              <a:rPr lang="en-US" dirty="0"/>
              <a:t>:</a:t>
            </a:r>
          </a:p>
          <a:p>
            <a:r>
              <a:rPr lang="en-US" sz="2400" dirty="0" err="1"/>
              <a:t>Phân</a:t>
            </a:r>
            <a:r>
              <a:rPr lang="en-US" sz="2400" dirty="0"/>
              <a:t> </a:t>
            </a:r>
            <a:r>
              <a:rPr lang="en-US" sz="2400" dirty="0" err="1"/>
              <a:t>tích</a:t>
            </a:r>
            <a:r>
              <a:rPr lang="en-US" sz="2400" dirty="0"/>
              <a:t> </a:t>
            </a:r>
            <a:r>
              <a:rPr lang="en-US" sz="2400" dirty="0" err="1"/>
              <a:t>dữ</a:t>
            </a:r>
            <a:r>
              <a:rPr lang="en-US" sz="2400" dirty="0"/>
              <a:t> </a:t>
            </a:r>
            <a:r>
              <a:rPr lang="en-US" sz="2400" dirty="0" err="1"/>
              <a:t>liệu</a:t>
            </a:r>
            <a:r>
              <a:rPr lang="en-US" sz="2400" dirty="0"/>
              <a:t>:</a:t>
            </a:r>
          </a:p>
          <a:p>
            <a:pPr lvl="1">
              <a:buFont typeface="Courier New" panose="02070309020205020404" pitchFamily="49" charset="0"/>
              <a:buChar char="o"/>
            </a:pPr>
            <a:r>
              <a:rPr lang="en-US" sz="2000" dirty="0"/>
              <a:t>Quan </a:t>
            </a:r>
            <a:r>
              <a:rPr lang="en-US" sz="2000" dirty="0" err="1"/>
              <a:t>sát</a:t>
            </a:r>
            <a:r>
              <a:rPr lang="en-US" sz="2000" dirty="0"/>
              <a:t>, </a:t>
            </a:r>
            <a:r>
              <a:rPr lang="en-US" sz="2000" dirty="0" err="1"/>
              <a:t>đánh</a:t>
            </a:r>
            <a:r>
              <a:rPr lang="en-US" sz="2000" dirty="0"/>
              <a:t> </a:t>
            </a:r>
            <a:r>
              <a:rPr lang="en-US" sz="2000" dirty="0" err="1"/>
              <a:t>giá</a:t>
            </a:r>
            <a:r>
              <a:rPr lang="en-US" sz="2000" dirty="0"/>
              <a:t> </a:t>
            </a:r>
            <a:r>
              <a:rPr lang="en-US" sz="2000" dirty="0" err="1"/>
              <a:t>biến</a:t>
            </a:r>
            <a:r>
              <a:rPr lang="en-US" sz="2000" dirty="0"/>
              <a:t> </a:t>
            </a:r>
            <a:r>
              <a:rPr lang="en-US" sz="2000" dirty="0" err="1"/>
              <a:t>động</a:t>
            </a:r>
            <a:r>
              <a:rPr lang="en-US" sz="2000" dirty="0"/>
              <a:t> </a:t>
            </a:r>
            <a:r>
              <a:rPr lang="en-US" sz="2000" dirty="0" err="1"/>
              <a:t>điểm</a:t>
            </a:r>
            <a:r>
              <a:rPr lang="en-US" sz="2000" dirty="0"/>
              <a:t> </a:t>
            </a:r>
            <a:r>
              <a:rPr lang="en-US" sz="2000" dirty="0" err="1"/>
              <a:t>tích</a:t>
            </a:r>
            <a:r>
              <a:rPr lang="en-US" sz="2000" dirty="0"/>
              <a:t> </a:t>
            </a:r>
            <a:r>
              <a:rPr lang="en-US" sz="2000" dirty="0" err="1"/>
              <a:t>lũy</a:t>
            </a:r>
            <a:r>
              <a:rPr lang="en-US" sz="2000" dirty="0"/>
              <a:t> </a:t>
            </a:r>
            <a:r>
              <a:rPr lang="en-US" sz="2000" dirty="0" err="1"/>
              <a:t>theo</a:t>
            </a:r>
            <a:r>
              <a:rPr lang="en-US" sz="2000" dirty="0"/>
              <a:t> </a:t>
            </a:r>
            <a:r>
              <a:rPr lang="en-US" sz="2000" dirty="0" err="1"/>
              <a:t>trục</a:t>
            </a:r>
            <a:r>
              <a:rPr lang="en-US" sz="2000" dirty="0"/>
              <a:t> </a:t>
            </a:r>
            <a:r>
              <a:rPr lang="en-US" sz="2000" dirty="0" err="1"/>
              <a:t>thời</a:t>
            </a:r>
            <a:r>
              <a:rPr lang="en-US" sz="2000" dirty="0"/>
              <a:t> </a:t>
            </a:r>
            <a:r>
              <a:rPr lang="en-US" sz="2000" dirty="0" err="1"/>
              <a:t>gian</a:t>
            </a:r>
            <a:r>
              <a:rPr lang="en-US" sz="2000" dirty="0"/>
              <a:t>.</a:t>
            </a:r>
          </a:p>
          <a:p>
            <a:pPr lvl="1">
              <a:buFont typeface="Courier New" panose="02070309020205020404" pitchFamily="49" charset="0"/>
              <a:buChar char="o"/>
            </a:pPr>
            <a:r>
              <a:rPr lang="en-US" sz="2000" dirty="0"/>
              <a:t>Quan </a:t>
            </a:r>
            <a:r>
              <a:rPr lang="en-US" sz="2000" dirty="0" err="1"/>
              <a:t>sát</a:t>
            </a:r>
            <a:r>
              <a:rPr lang="en-US" sz="2000" dirty="0"/>
              <a:t>, </a:t>
            </a:r>
            <a:r>
              <a:rPr lang="en-US" sz="2000" dirty="0" err="1"/>
              <a:t>đánh</a:t>
            </a:r>
            <a:r>
              <a:rPr lang="en-US" sz="2000" dirty="0"/>
              <a:t> </a:t>
            </a:r>
            <a:r>
              <a:rPr lang="en-US" sz="2000" dirty="0" err="1"/>
              <a:t>giá</a:t>
            </a:r>
            <a:r>
              <a:rPr lang="en-US" sz="2000" dirty="0"/>
              <a:t> </a:t>
            </a:r>
            <a:r>
              <a:rPr lang="en-US" sz="2000" dirty="0" err="1"/>
              <a:t>độ</a:t>
            </a:r>
            <a:r>
              <a:rPr lang="en-US" sz="2000" dirty="0"/>
              <a:t> </a:t>
            </a:r>
            <a:r>
              <a:rPr lang="en-US" sz="2000" dirty="0" err="1"/>
              <a:t>chênh</a:t>
            </a:r>
            <a:r>
              <a:rPr lang="en-US" sz="2000" dirty="0"/>
              <a:t> </a:t>
            </a:r>
            <a:r>
              <a:rPr lang="en-US" sz="2000" dirty="0" err="1"/>
              <a:t>lệnh</a:t>
            </a:r>
            <a:r>
              <a:rPr lang="en-US" sz="2000" dirty="0"/>
              <a:t> </a:t>
            </a:r>
            <a:r>
              <a:rPr lang="en-US" sz="2000" dirty="0" err="1"/>
              <a:t>điểm</a:t>
            </a:r>
            <a:r>
              <a:rPr lang="en-US" sz="2000" dirty="0"/>
              <a:t> </a:t>
            </a:r>
            <a:r>
              <a:rPr lang="en-US" sz="2000" dirty="0" err="1"/>
              <a:t>của</a:t>
            </a:r>
            <a:r>
              <a:rPr lang="en-US" sz="2000" dirty="0"/>
              <a:t> </a:t>
            </a:r>
            <a:r>
              <a:rPr lang="en-US" sz="2000" dirty="0" err="1"/>
              <a:t>các</a:t>
            </a:r>
            <a:r>
              <a:rPr lang="en-US" sz="2000" dirty="0"/>
              <a:t> </a:t>
            </a:r>
            <a:r>
              <a:rPr lang="en-US" sz="2000" dirty="0" err="1"/>
              <a:t>kì</a:t>
            </a:r>
            <a:r>
              <a:rPr lang="en-US" sz="2000" dirty="0"/>
              <a:t> </a:t>
            </a:r>
            <a:r>
              <a:rPr lang="en-US" sz="2000" dirty="0" err="1"/>
              <a:t>học</a:t>
            </a:r>
            <a:r>
              <a:rPr lang="en-US" sz="2000" dirty="0"/>
              <a:t> </a:t>
            </a:r>
            <a:r>
              <a:rPr lang="en-US" sz="2000" dirty="0" err="1"/>
              <a:t>giữa</a:t>
            </a:r>
            <a:r>
              <a:rPr lang="en-US" sz="2000" dirty="0"/>
              <a:t> </a:t>
            </a:r>
            <a:r>
              <a:rPr lang="en-US" sz="2000" dirty="0" err="1"/>
              <a:t>các</a:t>
            </a:r>
            <a:r>
              <a:rPr lang="en-US" sz="2000" dirty="0"/>
              <a:t> </a:t>
            </a:r>
            <a:r>
              <a:rPr lang="en-US" sz="2000" dirty="0" err="1"/>
              <a:t>năm</a:t>
            </a:r>
            <a:r>
              <a:rPr lang="en-US" sz="2000" dirty="0"/>
              <a:t> </a:t>
            </a:r>
            <a:r>
              <a:rPr lang="en-US" sz="2000" dirty="0" err="1"/>
              <a:t>học</a:t>
            </a:r>
            <a:r>
              <a:rPr lang="en-US" sz="2000" dirty="0"/>
              <a:t>.</a:t>
            </a:r>
          </a:p>
          <a:p>
            <a:pPr lvl="1">
              <a:buFont typeface="Courier New" panose="02070309020205020404" pitchFamily="49" charset="0"/>
              <a:buChar char="o"/>
            </a:pPr>
            <a:r>
              <a:rPr lang="en-US" sz="2000" dirty="0" err="1"/>
              <a:t>Xác</a:t>
            </a:r>
            <a:r>
              <a:rPr lang="en-US" sz="2000" dirty="0"/>
              <a:t> </a:t>
            </a:r>
            <a:r>
              <a:rPr lang="en-US" sz="2000" dirty="0" err="1"/>
              <a:t>định</a:t>
            </a:r>
            <a:r>
              <a:rPr lang="en-US" sz="2000" dirty="0"/>
              <a:t> </a:t>
            </a:r>
            <a:r>
              <a:rPr lang="en-US" sz="2000" dirty="0" err="1"/>
              <a:t>mức</a:t>
            </a:r>
            <a:r>
              <a:rPr lang="en-US" sz="2000" dirty="0"/>
              <a:t> </a:t>
            </a:r>
            <a:r>
              <a:rPr lang="en-US" sz="2000" dirty="0" err="1"/>
              <a:t>độ</a:t>
            </a:r>
            <a:r>
              <a:rPr lang="en-US" sz="2000" dirty="0"/>
              <a:t> </a:t>
            </a:r>
            <a:r>
              <a:rPr lang="en-US" sz="2000" dirty="0" err="1"/>
              <a:t>phân</a:t>
            </a:r>
            <a:r>
              <a:rPr lang="en-US" sz="2000" dirty="0"/>
              <a:t> </a:t>
            </a:r>
            <a:r>
              <a:rPr lang="en-US" sz="2000" dirty="0" err="1"/>
              <a:t>hóa</a:t>
            </a:r>
            <a:r>
              <a:rPr lang="en-US" sz="2000" dirty="0"/>
              <a:t> </a:t>
            </a:r>
            <a:r>
              <a:rPr lang="en-US" sz="2000" dirty="0" err="1"/>
              <a:t>điểm</a:t>
            </a:r>
            <a:r>
              <a:rPr lang="en-US" sz="2000" dirty="0"/>
              <a:t> </a:t>
            </a:r>
            <a:r>
              <a:rPr lang="en-US" sz="2000" dirty="0" err="1"/>
              <a:t>giữa</a:t>
            </a:r>
            <a:r>
              <a:rPr lang="en-US" sz="2000" dirty="0"/>
              <a:t> </a:t>
            </a:r>
            <a:r>
              <a:rPr lang="en-US" sz="2000" dirty="0" err="1"/>
              <a:t>các</a:t>
            </a:r>
            <a:r>
              <a:rPr lang="en-US" sz="2000" dirty="0"/>
              <a:t> </a:t>
            </a:r>
            <a:r>
              <a:rPr lang="en-US" sz="2000" dirty="0" err="1"/>
              <a:t>năm</a:t>
            </a:r>
            <a:endParaRPr lang="en-US" sz="2000" dirty="0"/>
          </a:p>
          <a:p>
            <a:pPr lvl="1">
              <a:buFont typeface="Courier New" panose="02070309020205020404" pitchFamily="49" charset="0"/>
              <a:buChar char="o"/>
            </a:pPr>
            <a:r>
              <a:rPr lang="en-US" sz="2000" dirty="0" err="1"/>
              <a:t>Xác</a:t>
            </a:r>
            <a:r>
              <a:rPr lang="en-US" sz="2000" dirty="0"/>
              <a:t> </a:t>
            </a:r>
            <a:r>
              <a:rPr lang="en-US" sz="2000" dirty="0" err="1"/>
              <a:t>định</a:t>
            </a:r>
            <a:r>
              <a:rPr lang="en-US" sz="2000" dirty="0"/>
              <a:t> </a:t>
            </a:r>
            <a:r>
              <a:rPr lang="en-US" sz="2000" dirty="0" err="1"/>
              <a:t>độ</a:t>
            </a:r>
            <a:r>
              <a:rPr lang="en-US" sz="2000" dirty="0"/>
              <a:t> </a:t>
            </a:r>
            <a:r>
              <a:rPr lang="vi-VN" sz="2000" dirty="0"/>
              <a:t>tương quan điểm giữa các môn đại cương và chuyên ngành</a:t>
            </a:r>
            <a:r>
              <a:rPr lang="en-US" sz="2000" dirty="0"/>
              <a:t>.</a:t>
            </a:r>
          </a:p>
          <a:p>
            <a:pPr lvl="1">
              <a:buFont typeface="Courier New" panose="02070309020205020404" pitchFamily="49" charset="0"/>
              <a:buChar char="o"/>
            </a:pPr>
            <a:r>
              <a:rPr lang="en-US" sz="2000" dirty="0" err="1"/>
              <a:t>Xác</a:t>
            </a:r>
            <a:r>
              <a:rPr lang="en-US" sz="2000" dirty="0"/>
              <a:t> </a:t>
            </a:r>
            <a:r>
              <a:rPr lang="en-US" sz="2000" dirty="0" err="1"/>
              <a:t>định</a:t>
            </a:r>
            <a:r>
              <a:rPr lang="en-US" sz="2000" dirty="0"/>
              <a:t> </a:t>
            </a:r>
            <a:r>
              <a:rPr lang="en-US" sz="2000" dirty="0" err="1"/>
              <a:t>tỷ</a:t>
            </a:r>
            <a:r>
              <a:rPr lang="en-US" sz="2000" dirty="0"/>
              <a:t> </a:t>
            </a:r>
            <a:r>
              <a:rPr lang="en-US" sz="2000" dirty="0" err="1"/>
              <a:t>lệ</a:t>
            </a:r>
            <a:r>
              <a:rPr lang="en-US" sz="2000" dirty="0"/>
              <a:t> </a:t>
            </a:r>
            <a:r>
              <a:rPr lang="en-US" sz="2000" dirty="0" err="1"/>
              <a:t>phần</a:t>
            </a:r>
            <a:r>
              <a:rPr lang="en-US" sz="2000" dirty="0"/>
              <a:t> </a:t>
            </a:r>
            <a:r>
              <a:rPr lang="en-US" sz="2000" dirty="0" err="1"/>
              <a:t>trăm</a:t>
            </a:r>
            <a:r>
              <a:rPr lang="en-US" sz="2000" dirty="0"/>
              <a:t> </a:t>
            </a:r>
            <a:r>
              <a:rPr lang="en-US" sz="2000" dirty="0" err="1"/>
              <a:t>phân</a:t>
            </a:r>
            <a:r>
              <a:rPr lang="en-US" sz="2000" dirty="0"/>
              <a:t> </a:t>
            </a:r>
            <a:r>
              <a:rPr lang="en-US" sz="2000" dirty="0" err="1"/>
              <a:t>bổ</a:t>
            </a:r>
            <a:r>
              <a:rPr lang="en-US" sz="2000" dirty="0"/>
              <a:t> </a:t>
            </a:r>
            <a:r>
              <a:rPr lang="en-US" sz="2000" dirty="0" err="1"/>
              <a:t>của</a:t>
            </a:r>
            <a:r>
              <a:rPr lang="en-US" sz="2000" dirty="0"/>
              <a:t> </a:t>
            </a:r>
            <a:r>
              <a:rPr lang="en-US" sz="2000" dirty="0" err="1"/>
              <a:t>các</a:t>
            </a:r>
            <a:r>
              <a:rPr lang="en-US" sz="2000" dirty="0"/>
              <a:t> </a:t>
            </a:r>
            <a:r>
              <a:rPr lang="en-US" sz="2000" dirty="0" err="1"/>
              <a:t>hình</a:t>
            </a:r>
            <a:r>
              <a:rPr lang="en-US" sz="2000" dirty="0"/>
              <a:t> </a:t>
            </a:r>
            <a:r>
              <a:rPr lang="en-US" sz="2000" dirty="0" err="1"/>
              <a:t>thái</a:t>
            </a:r>
            <a:r>
              <a:rPr lang="en-US" sz="2000" dirty="0"/>
              <a:t> </a:t>
            </a:r>
            <a:r>
              <a:rPr lang="en-US" sz="2000" dirty="0" err="1"/>
              <a:t>học</a:t>
            </a:r>
            <a:r>
              <a:rPr lang="en-US" sz="2000" dirty="0"/>
              <a:t> </a:t>
            </a:r>
            <a:r>
              <a:rPr lang="en-US" sz="2000" dirty="0" err="1"/>
              <a:t>tập</a:t>
            </a:r>
            <a:r>
              <a:rPr lang="en-US" sz="2000" dirty="0"/>
              <a:t> </a:t>
            </a:r>
            <a:r>
              <a:rPr lang="en-US" sz="2000" dirty="0" err="1"/>
              <a:t>trong</a:t>
            </a:r>
            <a:r>
              <a:rPr lang="en-US" sz="2000" dirty="0"/>
              <a:t> </a:t>
            </a:r>
            <a:r>
              <a:rPr lang="en-US" sz="2000" dirty="0" err="1"/>
              <a:t>lớp</a:t>
            </a:r>
            <a:r>
              <a:rPr lang="en-US" sz="2000" dirty="0"/>
              <a:t>.</a:t>
            </a:r>
          </a:p>
          <a:p>
            <a:r>
              <a:rPr lang="en-US" dirty="0" err="1"/>
              <a:t>Phân</a:t>
            </a:r>
            <a:r>
              <a:rPr lang="en-US" dirty="0"/>
              <a:t> </a:t>
            </a:r>
            <a:r>
              <a:rPr lang="en-US" dirty="0" err="1"/>
              <a:t>cụm</a:t>
            </a:r>
            <a:r>
              <a:rPr lang="en-US" dirty="0"/>
              <a:t> </a:t>
            </a:r>
            <a:r>
              <a:rPr lang="en-US" dirty="0" err="1"/>
              <a:t>dữ</a:t>
            </a:r>
            <a:r>
              <a:rPr lang="en-US" dirty="0"/>
              <a:t> </a:t>
            </a:r>
            <a:r>
              <a:rPr lang="en-US" dirty="0" err="1"/>
              <a:t>liệu</a:t>
            </a:r>
            <a:r>
              <a:rPr lang="en-US" dirty="0"/>
              <a:t>:</a:t>
            </a:r>
          </a:p>
          <a:p>
            <a:pPr lvl="1">
              <a:buFont typeface="Courier New" panose="02070309020205020404" pitchFamily="49" charset="0"/>
              <a:buChar char="o"/>
            </a:pPr>
            <a:r>
              <a:rPr lang="en-US" dirty="0" err="1"/>
              <a:t>Phân</a:t>
            </a:r>
            <a:r>
              <a:rPr lang="en-US" dirty="0"/>
              <a:t> </a:t>
            </a:r>
            <a:r>
              <a:rPr lang="en-US" dirty="0" err="1"/>
              <a:t>loại</a:t>
            </a:r>
            <a:r>
              <a:rPr lang="en-US" dirty="0"/>
              <a:t> </a:t>
            </a:r>
            <a:r>
              <a:rPr lang="en-US" dirty="0" err="1"/>
              <a:t>sinh</a:t>
            </a:r>
            <a:r>
              <a:rPr lang="en-US" dirty="0"/>
              <a:t> </a:t>
            </a:r>
            <a:r>
              <a:rPr lang="en-US" dirty="0" err="1"/>
              <a:t>viên</a:t>
            </a:r>
            <a:r>
              <a:rPr lang="en-US" dirty="0"/>
              <a:t> </a:t>
            </a:r>
            <a:r>
              <a:rPr lang="en-US" dirty="0" err="1"/>
              <a:t>theo</a:t>
            </a:r>
            <a:r>
              <a:rPr lang="en-US" dirty="0"/>
              <a:t> </a:t>
            </a:r>
            <a:r>
              <a:rPr lang="en-US" dirty="0" err="1"/>
              <a:t>mức</a:t>
            </a:r>
            <a:r>
              <a:rPr lang="en-US" dirty="0"/>
              <a:t> </a:t>
            </a:r>
            <a:r>
              <a:rPr lang="en-US" dirty="0" err="1"/>
              <a:t>độ</a:t>
            </a:r>
            <a:r>
              <a:rPr lang="en-US" dirty="0"/>
              <a:t> </a:t>
            </a:r>
            <a:r>
              <a:rPr lang="en-US" dirty="0" err="1"/>
              <a:t>điểm</a:t>
            </a:r>
            <a:r>
              <a:rPr lang="en-US" dirty="0"/>
              <a:t> </a:t>
            </a:r>
            <a:r>
              <a:rPr lang="en-US" dirty="0" err="1"/>
              <a:t>của</a:t>
            </a:r>
            <a:r>
              <a:rPr lang="en-US" dirty="0"/>
              <a:t> </a:t>
            </a:r>
            <a:r>
              <a:rPr lang="en-US" dirty="0" err="1"/>
              <a:t>lớp</a:t>
            </a:r>
            <a:r>
              <a:rPr lang="en-US" dirty="0"/>
              <a:t>.</a:t>
            </a:r>
          </a:p>
          <a:p>
            <a:pPr lvl="1">
              <a:buFont typeface="Courier New" panose="02070309020205020404" pitchFamily="49" charset="0"/>
              <a:buChar char="o"/>
            </a:pPr>
            <a:r>
              <a:rPr lang="en-US" dirty="0" err="1"/>
              <a:t>Phân</a:t>
            </a:r>
            <a:r>
              <a:rPr lang="en-US" dirty="0"/>
              <a:t> chia </a:t>
            </a:r>
            <a:r>
              <a:rPr lang="en-US" dirty="0" err="1"/>
              <a:t>mức</a:t>
            </a:r>
            <a:r>
              <a:rPr lang="en-US" dirty="0"/>
              <a:t> </a:t>
            </a:r>
            <a:r>
              <a:rPr lang="en-US" dirty="0" err="1"/>
              <a:t>độ</a:t>
            </a:r>
            <a:r>
              <a:rPr lang="en-US" dirty="0"/>
              <a:t> </a:t>
            </a:r>
            <a:r>
              <a:rPr lang="en-US" dirty="0" err="1"/>
              <a:t>học</a:t>
            </a:r>
            <a:r>
              <a:rPr lang="en-US" dirty="0"/>
              <a:t> </a:t>
            </a:r>
            <a:r>
              <a:rPr lang="en-US" dirty="0" err="1"/>
              <a:t>tập</a:t>
            </a:r>
            <a:r>
              <a:rPr lang="en-US" dirty="0"/>
              <a:t> </a:t>
            </a:r>
            <a:r>
              <a:rPr lang="en-US" dirty="0" err="1"/>
              <a:t>hiệu</a:t>
            </a:r>
            <a:r>
              <a:rPr lang="en-US" dirty="0"/>
              <a:t> </a:t>
            </a:r>
            <a:r>
              <a:rPr lang="en-US" dirty="0" err="1"/>
              <a:t>quả</a:t>
            </a:r>
            <a:r>
              <a:rPr lang="en-US" dirty="0"/>
              <a:t> </a:t>
            </a:r>
            <a:r>
              <a:rPr lang="en-US" dirty="0" err="1"/>
              <a:t>theo</a:t>
            </a:r>
            <a:r>
              <a:rPr lang="en-US" dirty="0"/>
              <a:t> </a:t>
            </a:r>
            <a:r>
              <a:rPr lang="en-US" dirty="0" err="1"/>
              <a:t>từng</a:t>
            </a:r>
            <a:r>
              <a:rPr lang="en-US" dirty="0"/>
              <a:t> </a:t>
            </a:r>
            <a:r>
              <a:rPr lang="en-US" dirty="0" err="1"/>
              <a:t>kì</a:t>
            </a:r>
            <a:r>
              <a:rPr lang="en-US" dirty="0"/>
              <a:t> </a:t>
            </a:r>
            <a:r>
              <a:rPr lang="en-US" dirty="0" err="1"/>
              <a:t>và</a:t>
            </a:r>
            <a:r>
              <a:rPr lang="en-US" dirty="0"/>
              <a:t> </a:t>
            </a:r>
            <a:r>
              <a:rPr lang="en-US" dirty="0" err="1"/>
              <a:t>năm</a:t>
            </a:r>
            <a:r>
              <a:rPr lang="en-US" dirty="0"/>
              <a:t> </a:t>
            </a:r>
            <a:r>
              <a:rPr lang="en-US" dirty="0" err="1"/>
              <a:t>học</a:t>
            </a:r>
            <a:r>
              <a:rPr lang="en-US" dirty="0"/>
              <a:t> </a:t>
            </a:r>
            <a:r>
              <a:rPr lang="en-US" dirty="0" err="1"/>
              <a:t>của</a:t>
            </a:r>
            <a:r>
              <a:rPr lang="en-US" dirty="0"/>
              <a:t> </a:t>
            </a:r>
            <a:r>
              <a:rPr lang="en-US" dirty="0" err="1"/>
              <a:t>lớp</a:t>
            </a:r>
            <a:r>
              <a:rPr lang="en-US" dirty="0"/>
              <a:t>.</a:t>
            </a:r>
          </a:p>
        </p:txBody>
      </p:sp>
    </p:spTree>
    <p:extLst>
      <p:ext uri="{BB962C8B-B14F-4D97-AF65-F5344CB8AC3E}">
        <p14:creationId xmlns:p14="http://schemas.microsoft.com/office/powerpoint/2010/main" val="661641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0EE23-5A96-6A4D-FB96-41BD327FF31E}"/>
              </a:ext>
            </a:extLst>
          </p:cNvPr>
          <p:cNvSpPr>
            <a:spLocks noGrp="1"/>
          </p:cNvSpPr>
          <p:nvPr>
            <p:ph type="title"/>
          </p:nvPr>
        </p:nvSpPr>
        <p:spPr>
          <a:xfrm>
            <a:off x="838200" y="0"/>
            <a:ext cx="10515600" cy="917985"/>
          </a:xfrm>
        </p:spPr>
        <p:txBody>
          <a:bodyPr/>
          <a:lstStyle/>
          <a:p>
            <a:r>
              <a:rPr lang="en-US" dirty="0"/>
              <a:t>THỰC HIỆN ĐỀ TÀI</a:t>
            </a:r>
          </a:p>
        </p:txBody>
      </p:sp>
      <p:sp>
        <p:nvSpPr>
          <p:cNvPr id="3" name="Content Placeholder 2">
            <a:extLst>
              <a:ext uri="{FF2B5EF4-FFF2-40B4-BE49-F238E27FC236}">
                <a16:creationId xmlns:a16="http://schemas.microsoft.com/office/drawing/2014/main" id="{CBA67BFB-F53B-2918-9B72-61F20757C7C9}"/>
              </a:ext>
            </a:extLst>
          </p:cNvPr>
          <p:cNvSpPr>
            <a:spLocks noGrp="1"/>
          </p:cNvSpPr>
          <p:nvPr>
            <p:ph idx="1"/>
          </p:nvPr>
        </p:nvSpPr>
        <p:spPr>
          <a:xfrm>
            <a:off x="838200" y="785249"/>
            <a:ext cx="10515600" cy="6072751"/>
          </a:xfrm>
        </p:spPr>
        <p:txBody>
          <a:bodyPr/>
          <a:lstStyle/>
          <a:p>
            <a:pPr marL="0" indent="0">
              <a:buNone/>
            </a:pPr>
            <a:r>
              <a:rPr lang="en-US" dirty="0" err="1"/>
              <a:t>Sử</a:t>
            </a:r>
            <a:r>
              <a:rPr lang="en-US" dirty="0"/>
              <a:t> </a:t>
            </a:r>
            <a:r>
              <a:rPr lang="en-US" dirty="0" err="1"/>
              <a:t>dụng</a:t>
            </a:r>
            <a:r>
              <a:rPr lang="en-US" dirty="0"/>
              <a:t> Google </a:t>
            </a:r>
            <a:r>
              <a:rPr lang="en-US" dirty="0" err="1"/>
              <a:t>Colab</a:t>
            </a:r>
            <a:r>
              <a:rPr lang="en-US" dirty="0"/>
              <a:t>, </a:t>
            </a:r>
            <a:r>
              <a:rPr lang="en-US" dirty="0" err="1"/>
              <a:t>tạo</a:t>
            </a:r>
            <a:r>
              <a:rPr lang="en-US" dirty="0"/>
              <a:t> file </a:t>
            </a:r>
            <a:r>
              <a:rPr lang="en-US" dirty="0" err="1"/>
              <a:t>jupyter</a:t>
            </a:r>
            <a:r>
              <a:rPr lang="en-US" dirty="0"/>
              <a:t> notebook </a:t>
            </a:r>
            <a:r>
              <a:rPr lang="en-US" dirty="0" err="1"/>
              <a:t>để</a:t>
            </a:r>
            <a:r>
              <a:rPr lang="en-US" dirty="0"/>
              <a:t> </a:t>
            </a:r>
            <a:r>
              <a:rPr lang="en-US" dirty="0" err="1"/>
              <a:t>thực</a:t>
            </a:r>
            <a:r>
              <a:rPr lang="en-US" dirty="0"/>
              <a:t> </a:t>
            </a:r>
            <a:r>
              <a:rPr lang="en-US" dirty="0" err="1"/>
              <a:t>hiện</a:t>
            </a:r>
            <a:endParaRPr lang="en-US" dirty="0"/>
          </a:p>
          <a:p>
            <a:pPr marL="0" indent="0">
              <a:buNone/>
            </a:pPr>
            <a:r>
              <a:rPr lang="en-US" dirty="0" err="1"/>
              <a:t>Mục</a:t>
            </a:r>
            <a:r>
              <a:rPr lang="en-US" dirty="0"/>
              <a:t> </a:t>
            </a:r>
            <a:r>
              <a:rPr lang="en-US" dirty="0" err="1"/>
              <a:t>tiêu</a:t>
            </a:r>
            <a:r>
              <a:rPr lang="en-US" dirty="0"/>
              <a:t>:</a:t>
            </a:r>
          </a:p>
          <a:p>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en-US" dirty="0"/>
          </a:p>
          <a:p>
            <a:r>
              <a:rPr lang="en-US" dirty="0" err="1"/>
              <a:t>Phân</a:t>
            </a:r>
            <a:r>
              <a:rPr lang="en-US" dirty="0"/>
              <a:t> </a:t>
            </a:r>
            <a:r>
              <a:rPr lang="en-US" dirty="0" err="1"/>
              <a:t>tích</a:t>
            </a:r>
            <a:r>
              <a:rPr lang="en-US" dirty="0"/>
              <a:t> </a:t>
            </a:r>
            <a:r>
              <a:rPr lang="en-US" dirty="0" err="1"/>
              <a:t>dữ</a:t>
            </a:r>
            <a:r>
              <a:rPr lang="en-US" dirty="0"/>
              <a:t> </a:t>
            </a:r>
            <a:r>
              <a:rPr lang="en-US" dirty="0" err="1"/>
              <a:t>liệu</a:t>
            </a:r>
            <a:endParaRPr lang="en-US" dirty="0"/>
          </a:p>
          <a:p>
            <a:r>
              <a:rPr lang="en-US" dirty="0" err="1"/>
              <a:t>Phân</a:t>
            </a:r>
            <a:r>
              <a:rPr lang="en-US" dirty="0"/>
              <a:t> </a:t>
            </a:r>
            <a:r>
              <a:rPr lang="en-US" dirty="0" err="1"/>
              <a:t>cụm</a:t>
            </a:r>
            <a:r>
              <a:rPr lang="en-US" dirty="0"/>
              <a:t> </a:t>
            </a:r>
            <a:r>
              <a:rPr lang="en-US" dirty="0" err="1"/>
              <a:t>dữ</a:t>
            </a:r>
            <a:r>
              <a:rPr lang="en-US" dirty="0"/>
              <a:t> </a:t>
            </a:r>
            <a:r>
              <a:rPr lang="en-US" dirty="0" err="1"/>
              <a:t>liệu</a:t>
            </a:r>
            <a:endParaRPr lang="en-US" dirty="0"/>
          </a:p>
          <a:p>
            <a:pPr marL="0" indent="0">
              <a:buNone/>
            </a:pPr>
            <a:endParaRPr lang="en-US" dirty="0"/>
          </a:p>
          <a:p>
            <a:pPr marL="0" indent="0">
              <a:buNone/>
            </a:pPr>
            <a:r>
              <a:rPr lang="en-US" dirty="0"/>
              <a:t>Công </a:t>
            </a:r>
            <a:r>
              <a:rPr lang="en-US" dirty="0" err="1"/>
              <a:t>việc</a:t>
            </a:r>
            <a:r>
              <a:rPr lang="en-US" dirty="0"/>
              <a:t>:</a:t>
            </a:r>
          </a:p>
          <a:p>
            <a:pPr marL="0" indent="0">
              <a:buNone/>
            </a:pPr>
            <a:r>
              <a:rPr lang="en-US" dirty="0"/>
              <a:t>1.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đầu</a:t>
            </a:r>
            <a:r>
              <a:rPr lang="en-US" dirty="0"/>
              <a:t> </a:t>
            </a:r>
            <a:r>
              <a:rPr lang="en-US" dirty="0" err="1"/>
              <a:t>vào</a:t>
            </a:r>
            <a:endParaRPr lang="en-US" dirty="0"/>
          </a:p>
          <a:p>
            <a:pPr marL="0" indent="0">
              <a:buNone/>
            </a:pPr>
            <a:r>
              <a:rPr lang="en-US" dirty="0"/>
              <a:t>2. </a:t>
            </a:r>
            <a:r>
              <a:rPr lang="en-US" dirty="0" err="1"/>
              <a:t>Xác</a:t>
            </a:r>
            <a:r>
              <a:rPr lang="en-US" dirty="0"/>
              <a:t> </a:t>
            </a:r>
            <a:r>
              <a:rPr lang="en-US" dirty="0" err="1"/>
              <a:t>định</a:t>
            </a:r>
            <a:r>
              <a:rPr lang="en-US" dirty="0"/>
              <a:t> </a:t>
            </a:r>
            <a:r>
              <a:rPr lang="en-US" dirty="0" err="1"/>
              <a:t>các</a:t>
            </a:r>
            <a:r>
              <a:rPr lang="en-US" dirty="0"/>
              <a:t> </a:t>
            </a:r>
            <a:r>
              <a:rPr lang="en-US" dirty="0" err="1"/>
              <a:t>mốc</a:t>
            </a:r>
            <a:r>
              <a:rPr lang="en-US" dirty="0"/>
              <a:t> </a:t>
            </a:r>
            <a:r>
              <a:rPr lang="en-US" dirty="0" err="1"/>
              <a:t>phân</a:t>
            </a:r>
            <a:r>
              <a:rPr lang="en-US" dirty="0"/>
              <a:t> </a:t>
            </a:r>
            <a:r>
              <a:rPr lang="en-US" dirty="0" err="1"/>
              <a:t>cụm</a:t>
            </a:r>
            <a:r>
              <a:rPr lang="en-US" dirty="0"/>
              <a:t> K</a:t>
            </a:r>
          </a:p>
          <a:p>
            <a:pPr marL="0" indent="0">
              <a:buNone/>
            </a:pPr>
            <a:r>
              <a:rPr lang="en-US" dirty="0"/>
              <a:t>3. </a:t>
            </a:r>
            <a:r>
              <a:rPr lang="en-US" dirty="0" err="1"/>
              <a:t>Tính</a:t>
            </a:r>
            <a:r>
              <a:rPr lang="en-US" dirty="0"/>
              <a:t> </a:t>
            </a:r>
            <a:r>
              <a:rPr lang="en-US" dirty="0" err="1"/>
              <a:t>toán</a:t>
            </a:r>
            <a:r>
              <a:rPr lang="en-US" dirty="0"/>
              <a:t>, </a:t>
            </a:r>
            <a:r>
              <a:rPr lang="en-US" dirty="0" err="1"/>
              <a:t>phân</a:t>
            </a:r>
            <a:r>
              <a:rPr lang="en-US" dirty="0"/>
              <a:t> </a:t>
            </a:r>
            <a:r>
              <a:rPr lang="en-US" dirty="0" err="1"/>
              <a:t>tích</a:t>
            </a:r>
            <a:r>
              <a:rPr lang="en-US" dirty="0"/>
              <a:t> </a:t>
            </a:r>
            <a:r>
              <a:rPr lang="en-US" dirty="0" err="1"/>
              <a:t>dữ</a:t>
            </a:r>
            <a:r>
              <a:rPr lang="en-US" dirty="0"/>
              <a:t> </a:t>
            </a:r>
            <a:r>
              <a:rPr lang="en-US" dirty="0" err="1"/>
              <a:t>liệu</a:t>
            </a:r>
            <a:r>
              <a:rPr lang="en-US" dirty="0"/>
              <a:t> </a:t>
            </a:r>
            <a:r>
              <a:rPr lang="en-US" dirty="0" err="1"/>
              <a:t>và</a:t>
            </a:r>
            <a:r>
              <a:rPr lang="en-US" dirty="0"/>
              <a:t> </a:t>
            </a:r>
            <a:r>
              <a:rPr lang="en-US" dirty="0" err="1"/>
              <a:t>phân</a:t>
            </a:r>
            <a:r>
              <a:rPr lang="en-US" dirty="0"/>
              <a:t> </a:t>
            </a:r>
            <a:r>
              <a:rPr lang="en-US" dirty="0" err="1"/>
              <a:t>cụm</a:t>
            </a:r>
            <a:r>
              <a:rPr lang="en-US" dirty="0"/>
              <a:t> K-mean</a:t>
            </a:r>
          </a:p>
          <a:p>
            <a:pPr marL="0" indent="0">
              <a:buNone/>
            </a:pPr>
            <a:r>
              <a:rPr lang="en-US" dirty="0"/>
              <a:t>4. </a:t>
            </a:r>
            <a:r>
              <a:rPr lang="en-US" dirty="0" err="1"/>
              <a:t>Biểu</a:t>
            </a:r>
            <a:r>
              <a:rPr lang="en-US" dirty="0"/>
              <a:t> </a:t>
            </a:r>
            <a:r>
              <a:rPr lang="en-US" dirty="0" err="1"/>
              <a:t>diễn</a:t>
            </a:r>
            <a:r>
              <a:rPr lang="en-US" dirty="0"/>
              <a:t> </a:t>
            </a:r>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đầu</a:t>
            </a:r>
            <a:r>
              <a:rPr lang="en-US" dirty="0"/>
              <a:t> </a:t>
            </a:r>
            <a:r>
              <a:rPr lang="en-US" dirty="0" err="1"/>
              <a:t>ra</a:t>
            </a:r>
            <a:endParaRPr lang="en-US" dirty="0"/>
          </a:p>
        </p:txBody>
      </p:sp>
    </p:spTree>
    <p:extLst>
      <p:ext uri="{BB962C8B-B14F-4D97-AF65-F5344CB8AC3E}">
        <p14:creationId xmlns:p14="http://schemas.microsoft.com/office/powerpoint/2010/main" val="175388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1AC05-0F46-7E7B-D7B8-C6C498867682}"/>
              </a:ext>
            </a:extLst>
          </p:cNvPr>
          <p:cNvSpPr>
            <a:spLocks noGrp="1"/>
          </p:cNvSpPr>
          <p:nvPr>
            <p:ph type="title"/>
          </p:nvPr>
        </p:nvSpPr>
        <p:spPr>
          <a:xfrm>
            <a:off x="-1" y="18256"/>
            <a:ext cx="12993329" cy="542184"/>
          </a:xfrm>
        </p:spPr>
        <p:txBody>
          <a:bodyPr>
            <a:normAutofit/>
          </a:bodyPr>
          <a:lstStyle/>
          <a:p>
            <a:r>
              <a:rPr lang="en-US" sz="3000" dirty="0"/>
              <a:t>Cell 1: </a:t>
            </a:r>
            <a:r>
              <a:rPr lang="en-US" sz="3000" dirty="0" err="1"/>
              <a:t>Khởi</a:t>
            </a:r>
            <a:r>
              <a:rPr lang="en-US" sz="3000" dirty="0"/>
              <a:t> </a:t>
            </a:r>
            <a:r>
              <a:rPr lang="en-US" sz="3000" dirty="0" err="1"/>
              <a:t>tạo</a:t>
            </a:r>
            <a:r>
              <a:rPr lang="en-US" sz="3000" dirty="0"/>
              <a:t>, </a:t>
            </a:r>
            <a:r>
              <a:rPr lang="en-US" sz="3000" dirty="0" err="1"/>
              <a:t>Cấu</a:t>
            </a:r>
            <a:r>
              <a:rPr lang="en-US" sz="3000" dirty="0"/>
              <a:t> </a:t>
            </a:r>
            <a:r>
              <a:rPr lang="en-US" sz="3000" dirty="0" err="1"/>
              <a:t>hình</a:t>
            </a:r>
            <a:r>
              <a:rPr lang="en-US" sz="3000" dirty="0"/>
              <a:t> </a:t>
            </a:r>
            <a:r>
              <a:rPr lang="en-US" sz="3000" dirty="0" err="1"/>
              <a:t>Môi</a:t>
            </a:r>
            <a:r>
              <a:rPr lang="en-US" sz="3000" dirty="0"/>
              <a:t> </a:t>
            </a:r>
            <a:r>
              <a:rPr lang="en-US" sz="3000" dirty="0" err="1"/>
              <a:t>trường</a:t>
            </a:r>
            <a:r>
              <a:rPr lang="en-US" sz="3000" dirty="0"/>
              <a:t> &amp; </a:t>
            </a:r>
            <a:r>
              <a:rPr lang="en-US" sz="3000" dirty="0" err="1"/>
              <a:t>Phông</a:t>
            </a:r>
            <a:r>
              <a:rPr lang="en-US" sz="3000" dirty="0"/>
              <a:t> </a:t>
            </a:r>
            <a:r>
              <a:rPr lang="en-US" sz="3000" dirty="0" err="1"/>
              <a:t>chữ</a:t>
            </a:r>
            <a:r>
              <a:rPr lang="en-US" sz="3000" dirty="0"/>
              <a:t> </a:t>
            </a:r>
            <a:r>
              <a:rPr lang="en-US" sz="3000" dirty="0" err="1"/>
              <a:t>tiếng</a:t>
            </a:r>
            <a:r>
              <a:rPr lang="en-US" sz="3000" dirty="0"/>
              <a:t> Việt</a:t>
            </a:r>
          </a:p>
        </p:txBody>
      </p:sp>
      <p:sp>
        <p:nvSpPr>
          <p:cNvPr id="3" name="Content Placeholder 2">
            <a:extLst>
              <a:ext uri="{FF2B5EF4-FFF2-40B4-BE49-F238E27FC236}">
                <a16:creationId xmlns:a16="http://schemas.microsoft.com/office/drawing/2014/main" id="{33A91546-9825-7D7D-473A-638B350D41B9}"/>
              </a:ext>
            </a:extLst>
          </p:cNvPr>
          <p:cNvSpPr>
            <a:spLocks noGrp="1"/>
          </p:cNvSpPr>
          <p:nvPr>
            <p:ph idx="1"/>
          </p:nvPr>
        </p:nvSpPr>
        <p:spPr>
          <a:xfrm>
            <a:off x="0" y="645754"/>
            <a:ext cx="4651425" cy="6193990"/>
          </a:xfrm>
        </p:spPr>
        <p:txBody>
          <a:bodyPr>
            <a:normAutofit/>
          </a:bodyPr>
          <a:lstStyle/>
          <a:p>
            <a:pPr marL="0" indent="0">
              <a:buNone/>
            </a:pPr>
            <a:r>
              <a:rPr lang="en-US" sz="2300" dirty="0"/>
              <a:t>Cell code 1 </a:t>
            </a:r>
            <a:r>
              <a:rPr lang="en-US" sz="2300" dirty="0" err="1"/>
              <a:t>để</a:t>
            </a:r>
            <a:r>
              <a:rPr lang="en-US" sz="2300" dirty="0"/>
              <a:t> </a:t>
            </a:r>
            <a:r>
              <a:rPr lang="en-US" sz="2300" dirty="0" err="1"/>
              <a:t>chuẩn</a:t>
            </a:r>
            <a:r>
              <a:rPr lang="en-US" sz="2300" dirty="0"/>
              <a:t> </a:t>
            </a:r>
            <a:r>
              <a:rPr lang="en-US" sz="2300" dirty="0" err="1"/>
              <a:t>bị</a:t>
            </a:r>
            <a:r>
              <a:rPr lang="en-US" sz="2300" dirty="0"/>
              <a:t> </a:t>
            </a:r>
            <a:r>
              <a:rPr lang="en-US" sz="2300" dirty="0" err="1"/>
              <a:t>thư</a:t>
            </a:r>
            <a:r>
              <a:rPr lang="en-US" sz="2300" dirty="0"/>
              <a:t> </a:t>
            </a:r>
            <a:r>
              <a:rPr lang="en-US" sz="2300" dirty="0" err="1"/>
              <a:t>viện</a:t>
            </a:r>
            <a:r>
              <a:rPr lang="en-US" sz="2300" dirty="0"/>
              <a:t> </a:t>
            </a:r>
            <a:r>
              <a:rPr lang="en-US" sz="2300" dirty="0" err="1"/>
              <a:t>và</a:t>
            </a:r>
            <a:r>
              <a:rPr lang="en-US" sz="2300" dirty="0"/>
              <a:t> </a:t>
            </a:r>
            <a:r>
              <a:rPr lang="en-US" sz="2300" dirty="0" err="1"/>
              <a:t>xử</a:t>
            </a:r>
            <a:r>
              <a:rPr lang="en-US" sz="2300" dirty="0"/>
              <a:t> </a:t>
            </a:r>
            <a:r>
              <a:rPr lang="en-US" sz="2300" dirty="0" err="1"/>
              <a:t>lý</a:t>
            </a:r>
            <a:r>
              <a:rPr lang="en-US" sz="2300" dirty="0"/>
              <a:t> </a:t>
            </a:r>
            <a:r>
              <a:rPr lang="en-US" sz="2300" dirty="0" err="1"/>
              <a:t>hiển</a:t>
            </a:r>
            <a:r>
              <a:rPr lang="en-US" sz="2300" dirty="0"/>
              <a:t> </a:t>
            </a:r>
            <a:r>
              <a:rPr lang="en-US" sz="2300" dirty="0" err="1"/>
              <a:t>thị</a:t>
            </a:r>
            <a:r>
              <a:rPr lang="en-US" sz="2300" dirty="0"/>
              <a:t>.</a:t>
            </a:r>
          </a:p>
          <a:p>
            <a:r>
              <a:rPr lang="en-US" sz="2300" dirty="0"/>
              <a:t>Import </a:t>
            </a:r>
            <a:r>
              <a:rPr lang="en-US" sz="2300" dirty="0" err="1"/>
              <a:t>các</a:t>
            </a:r>
            <a:r>
              <a:rPr lang="en-US" sz="2300" dirty="0"/>
              <a:t> </a:t>
            </a:r>
            <a:r>
              <a:rPr lang="en-US" sz="2300" dirty="0" err="1"/>
              <a:t>thư</a:t>
            </a:r>
            <a:r>
              <a:rPr lang="en-US" sz="2300" dirty="0"/>
              <a:t> </a:t>
            </a:r>
            <a:r>
              <a:rPr lang="en-US" sz="2300" dirty="0" err="1"/>
              <a:t>viện</a:t>
            </a:r>
            <a:r>
              <a:rPr lang="en-US" sz="2300" dirty="0"/>
              <a:t> </a:t>
            </a:r>
            <a:r>
              <a:rPr lang="en-US" sz="2300" dirty="0" err="1"/>
              <a:t>chuyên</a:t>
            </a:r>
            <a:r>
              <a:rPr lang="en-US" sz="2300" dirty="0"/>
              <a:t> </a:t>
            </a:r>
            <a:r>
              <a:rPr lang="en-US" sz="2300" dirty="0" err="1"/>
              <a:t>dụng</a:t>
            </a:r>
            <a:r>
              <a:rPr lang="en-US" sz="2300" dirty="0"/>
              <a:t>: pandas (</a:t>
            </a:r>
            <a:r>
              <a:rPr lang="en-US" sz="2300" dirty="0" err="1"/>
              <a:t>xử</a:t>
            </a:r>
            <a:r>
              <a:rPr lang="en-US" sz="2300" dirty="0"/>
              <a:t> </a:t>
            </a:r>
            <a:r>
              <a:rPr lang="en-US" sz="2300" dirty="0" err="1"/>
              <a:t>lý</a:t>
            </a:r>
            <a:r>
              <a:rPr lang="en-US" sz="2300" dirty="0"/>
              <a:t> </a:t>
            </a:r>
            <a:r>
              <a:rPr lang="en-US" sz="2300" dirty="0" err="1"/>
              <a:t>bảng</a:t>
            </a:r>
            <a:r>
              <a:rPr lang="en-US" sz="2300" dirty="0"/>
              <a:t>), </a:t>
            </a:r>
            <a:r>
              <a:rPr lang="en-US" sz="2300" dirty="0" err="1"/>
              <a:t>numpy</a:t>
            </a:r>
            <a:r>
              <a:rPr lang="en-US" sz="2300" dirty="0"/>
              <a:t> (</a:t>
            </a:r>
            <a:r>
              <a:rPr lang="en-US" sz="2300" dirty="0" err="1"/>
              <a:t>toán</a:t>
            </a:r>
            <a:r>
              <a:rPr lang="en-US" sz="2300" dirty="0"/>
              <a:t> </a:t>
            </a:r>
            <a:r>
              <a:rPr lang="en-US" sz="2300" dirty="0" err="1"/>
              <a:t>học</a:t>
            </a:r>
            <a:r>
              <a:rPr lang="en-US" sz="2300" dirty="0"/>
              <a:t> ma </a:t>
            </a:r>
            <a:r>
              <a:rPr lang="en-US" sz="2300" dirty="0" err="1"/>
              <a:t>trận</a:t>
            </a:r>
            <a:r>
              <a:rPr lang="en-US" sz="2300" dirty="0"/>
              <a:t>), matplotlib &amp; seaborn (</a:t>
            </a:r>
            <a:r>
              <a:rPr lang="en-US" sz="2300" dirty="0" err="1"/>
              <a:t>đồ</a:t>
            </a:r>
            <a:r>
              <a:rPr lang="en-US" sz="2300" dirty="0"/>
              <a:t> </a:t>
            </a:r>
            <a:r>
              <a:rPr lang="en-US" sz="2300" dirty="0" err="1"/>
              <a:t>thị</a:t>
            </a:r>
            <a:r>
              <a:rPr lang="en-US" sz="2300" dirty="0"/>
              <a:t>), </a:t>
            </a:r>
            <a:r>
              <a:rPr lang="en-US" sz="2300" dirty="0" err="1"/>
              <a:t>sklearn</a:t>
            </a:r>
            <a:r>
              <a:rPr lang="en-US" sz="2300" dirty="0"/>
              <a:t> (</a:t>
            </a:r>
            <a:r>
              <a:rPr lang="en-US" sz="2300" dirty="0" err="1"/>
              <a:t>học</a:t>
            </a:r>
            <a:r>
              <a:rPr lang="en-US" sz="2300" dirty="0"/>
              <a:t> </a:t>
            </a:r>
            <a:r>
              <a:rPr lang="en-US" sz="2300" dirty="0" err="1"/>
              <a:t>máy</a:t>
            </a:r>
            <a:r>
              <a:rPr lang="en-US" sz="2300" dirty="0"/>
              <a:t>).</a:t>
            </a:r>
          </a:p>
          <a:p>
            <a:r>
              <a:rPr lang="en-US" sz="2300" dirty="0" err="1"/>
              <a:t>Cấu</a:t>
            </a:r>
            <a:r>
              <a:rPr lang="en-US" sz="2300" dirty="0"/>
              <a:t> </a:t>
            </a:r>
            <a:r>
              <a:rPr lang="en-US" sz="2300" dirty="0" err="1"/>
              <a:t>hình</a:t>
            </a:r>
            <a:r>
              <a:rPr lang="en-US" sz="2300" dirty="0"/>
              <a:t> </a:t>
            </a:r>
            <a:r>
              <a:rPr lang="en-US" sz="2300" dirty="0" err="1"/>
              <a:t>tham</a:t>
            </a:r>
            <a:r>
              <a:rPr lang="en-US" sz="2300" dirty="0"/>
              <a:t> </a:t>
            </a:r>
            <a:r>
              <a:rPr lang="en-US" sz="2300" dirty="0" err="1"/>
              <a:t>số</a:t>
            </a:r>
            <a:r>
              <a:rPr lang="en-US" sz="2300" dirty="0"/>
              <a:t> </a:t>
            </a:r>
            <a:r>
              <a:rPr lang="en-US" sz="2300" dirty="0" err="1"/>
              <a:t>rcParams</a:t>
            </a:r>
            <a:r>
              <a:rPr lang="en-US" sz="2300" dirty="0"/>
              <a:t>['</a:t>
            </a:r>
            <a:r>
              <a:rPr lang="en-US" sz="2300" dirty="0" err="1"/>
              <a:t>font.family</a:t>
            </a:r>
            <a:r>
              <a:rPr lang="en-US" sz="2300" dirty="0"/>
              <a:t>'] </a:t>
            </a:r>
            <a:r>
              <a:rPr lang="en-US" sz="2300" dirty="0" err="1"/>
              <a:t>để</a:t>
            </a:r>
            <a:r>
              <a:rPr lang="en-US" sz="2300" dirty="0"/>
              <a:t> </a:t>
            </a:r>
            <a:r>
              <a:rPr lang="en-US" sz="2300" dirty="0" err="1"/>
              <a:t>các</a:t>
            </a:r>
            <a:r>
              <a:rPr lang="en-US" sz="2300" dirty="0"/>
              <a:t> </a:t>
            </a:r>
            <a:r>
              <a:rPr lang="en-US" sz="2300" dirty="0" err="1"/>
              <a:t>đồ</a:t>
            </a:r>
            <a:r>
              <a:rPr lang="en-US" sz="2300" dirty="0"/>
              <a:t> </a:t>
            </a:r>
            <a:r>
              <a:rPr lang="en-US" sz="2300" dirty="0" err="1"/>
              <a:t>thị</a:t>
            </a:r>
            <a:r>
              <a:rPr lang="en-US" sz="2300" dirty="0"/>
              <a:t> </a:t>
            </a:r>
            <a:r>
              <a:rPr lang="en-US" sz="2300" dirty="0" err="1"/>
              <a:t>không</a:t>
            </a:r>
            <a:r>
              <a:rPr lang="en-US" sz="2300" dirty="0"/>
              <a:t> </a:t>
            </a:r>
            <a:r>
              <a:rPr lang="en-US" sz="2300" dirty="0" err="1"/>
              <a:t>bị</a:t>
            </a:r>
            <a:r>
              <a:rPr lang="en-US" sz="2300" dirty="0"/>
              <a:t> </a:t>
            </a:r>
            <a:r>
              <a:rPr lang="en-US" sz="2300" dirty="0" err="1"/>
              <a:t>lỗi</a:t>
            </a:r>
            <a:r>
              <a:rPr lang="en-US" sz="2300" dirty="0"/>
              <a:t> </a:t>
            </a:r>
            <a:r>
              <a:rPr lang="en-US" sz="2300" dirty="0" err="1"/>
              <a:t>hiển</a:t>
            </a:r>
            <a:r>
              <a:rPr lang="en-US" sz="2300" dirty="0"/>
              <a:t> </a:t>
            </a:r>
            <a:r>
              <a:rPr lang="en-US" sz="2300" dirty="0" err="1"/>
              <a:t>thị</a:t>
            </a:r>
            <a:r>
              <a:rPr lang="en-US" sz="2300" dirty="0"/>
              <a:t> </a:t>
            </a:r>
            <a:r>
              <a:rPr lang="en-US" sz="2300" dirty="0" err="1"/>
              <a:t>dấu</a:t>
            </a:r>
            <a:r>
              <a:rPr lang="en-US" sz="2300" dirty="0"/>
              <a:t> </a:t>
            </a:r>
            <a:r>
              <a:rPr lang="en-US" sz="2300" dirty="0" err="1"/>
              <a:t>tiếng</a:t>
            </a:r>
            <a:r>
              <a:rPr lang="en-US" sz="2300" dirty="0"/>
              <a:t> Việt (Arial, </a:t>
            </a:r>
            <a:r>
              <a:rPr lang="en-US" sz="2300" dirty="0" err="1"/>
              <a:t>DejaVu</a:t>
            </a:r>
            <a:r>
              <a:rPr lang="en-US" sz="2300" dirty="0"/>
              <a:t> Sans </a:t>
            </a:r>
            <a:r>
              <a:rPr lang="en-US" sz="2300" dirty="0" err="1"/>
              <a:t>hoặc</a:t>
            </a:r>
            <a:r>
              <a:rPr lang="en-US" sz="2300" dirty="0"/>
              <a:t> Times New Roman).</a:t>
            </a:r>
          </a:p>
        </p:txBody>
      </p:sp>
      <p:pic>
        <p:nvPicPr>
          <p:cNvPr id="5" name="Picture 4">
            <a:extLst>
              <a:ext uri="{FF2B5EF4-FFF2-40B4-BE49-F238E27FC236}">
                <a16:creationId xmlns:a16="http://schemas.microsoft.com/office/drawing/2014/main" id="{219B5958-323F-EB2A-DAF6-8156062EF7FE}"/>
              </a:ext>
            </a:extLst>
          </p:cNvPr>
          <p:cNvPicPr>
            <a:picLocks noChangeAspect="1"/>
          </p:cNvPicPr>
          <p:nvPr/>
        </p:nvPicPr>
        <p:blipFill>
          <a:blip r:embed="rId2"/>
          <a:srcRect r="20106"/>
          <a:stretch>
            <a:fillRect/>
          </a:stretch>
        </p:blipFill>
        <p:spPr>
          <a:xfrm>
            <a:off x="4651425" y="645754"/>
            <a:ext cx="7540575" cy="5206181"/>
          </a:xfrm>
          <a:prstGeom prst="rect">
            <a:avLst/>
          </a:prstGeom>
        </p:spPr>
      </p:pic>
      <p:cxnSp>
        <p:nvCxnSpPr>
          <p:cNvPr id="7" name="Straight Connector 6">
            <a:extLst>
              <a:ext uri="{FF2B5EF4-FFF2-40B4-BE49-F238E27FC236}">
                <a16:creationId xmlns:a16="http://schemas.microsoft.com/office/drawing/2014/main" id="{0D605E1B-5D48-FA7D-B605-63914BC97B5F}"/>
              </a:ext>
            </a:extLst>
          </p:cNvPr>
          <p:cNvCxnSpPr/>
          <p:nvPr/>
        </p:nvCxnSpPr>
        <p:spPr>
          <a:xfrm>
            <a:off x="0" y="560440"/>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8941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E8684-3B4C-CC42-C5CE-B49B30794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79E807-E0FE-19BF-BF3B-0E3E3CFA0359}"/>
              </a:ext>
            </a:extLst>
          </p:cNvPr>
          <p:cNvSpPr>
            <a:spLocks noGrp="1"/>
          </p:cNvSpPr>
          <p:nvPr>
            <p:ph type="title"/>
          </p:nvPr>
        </p:nvSpPr>
        <p:spPr>
          <a:xfrm>
            <a:off x="-1" y="18256"/>
            <a:ext cx="12993329" cy="542184"/>
          </a:xfrm>
        </p:spPr>
        <p:txBody>
          <a:bodyPr>
            <a:normAutofit/>
          </a:bodyPr>
          <a:lstStyle/>
          <a:p>
            <a:r>
              <a:rPr lang="en-US" sz="3000" dirty="0"/>
              <a:t>Cell 2: </a:t>
            </a:r>
            <a:r>
              <a:rPr lang="en-US" sz="3200" dirty="0" err="1"/>
              <a:t>Đọc</a:t>
            </a:r>
            <a:r>
              <a:rPr lang="en-US" sz="3200" dirty="0"/>
              <a:t> </a:t>
            </a:r>
            <a:r>
              <a:rPr lang="en-US" sz="3200" dirty="0" err="1"/>
              <a:t>dữ</a:t>
            </a:r>
            <a:r>
              <a:rPr lang="en-US" sz="3200" dirty="0"/>
              <a:t> </a:t>
            </a:r>
            <a:r>
              <a:rPr lang="en-US" sz="3200" dirty="0" err="1"/>
              <a:t>liệu</a:t>
            </a:r>
            <a:r>
              <a:rPr lang="en-US" sz="3200" dirty="0"/>
              <a:t> </a:t>
            </a:r>
            <a:r>
              <a:rPr lang="en-US" sz="3200" dirty="0" err="1"/>
              <a:t>từ</a:t>
            </a:r>
            <a:r>
              <a:rPr lang="en-US" sz="3200" dirty="0"/>
              <a:t> </a:t>
            </a:r>
            <a:r>
              <a:rPr lang="en-US" sz="3200" dirty="0" err="1"/>
              <a:t>nguồn</a:t>
            </a:r>
            <a:endParaRPr lang="en-US" sz="3000" dirty="0"/>
          </a:p>
        </p:txBody>
      </p:sp>
      <p:sp>
        <p:nvSpPr>
          <p:cNvPr id="3" name="Content Placeholder 2">
            <a:extLst>
              <a:ext uri="{FF2B5EF4-FFF2-40B4-BE49-F238E27FC236}">
                <a16:creationId xmlns:a16="http://schemas.microsoft.com/office/drawing/2014/main" id="{4C261916-C237-3F6B-09F3-639807A3E88D}"/>
              </a:ext>
            </a:extLst>
          </p:cNvPr>
          <p:cNvSpPr>
            <a:spLocks noGrp="1"/>
          </p:cNvSpPr>
          <p:nvPr>
            <p:ph idx="1"/>
          </p:nvPr>
        </p:nvSpPr>
        <p:spPr>
          <a:xfrm>
            <a:off x="31954" y="560440"/>
            <a:ext cx="4862052" cy="5825612"/>
          </a:xfrm>
        </p:spPr>
        <p:txBody>
          <a:bodyPr>
            <a:normAutofit/>
          </a:bodyPr>
          <a:lstStyle/>
          <a:p>
            <a:pPr marL="0" indent="0">
              <a:buNone/>
            </a:pPr>
            <a:r>
              <a:rPr lang="en-US" sz="2300" dirty="0"/>
              <a:t>Cell code 2 </a:t>
            </a:r>
            <a:r>
              <a:rPr lang="en-US" sz="2300" dirty="0" err="1"/>
              <a:t>chuyển</a:t>
            </a:r>
            <a:r>
              <a:rPr lang="en-US" sz="2300" dirty="0"/>
              <a:t> </a:t>
            </a:r>
            <a:r>
              <a:rPr lang="en-US" sz="2300" dirty="0" err="1"/>
              <a:t>đổi</a:t>
            </a:r>
            <a:r>
              <a:rPr lang="en-US" sz="2300" dirty="0"/>
              <a:t> </a:t>
            </a:r>
            <a:r>
              <a:rPr lang="en-US" sz="2300" dirty="0" err="1"/>
              <a:t>dữ</a:t>
            </a:r>
            <a:r>
              <a:rPr lang="en-US" sz="2300" dirty="0"/>
              <a:t> </a:t>
            </a:r>
            <a:r>
              <a:rPr lang="en-US" sz="2300" dirty="0" err="1"/>
              <a:t>liệu</a:t>
            </a:r>
            <a:r>
              <a:rPr lang="en-US" sz="2300" dirty="0"/>
              <a:t> </a:t>
            </a:r>
            <a:r>
              <a:rPr lang="en-US" sz="2300" dirty="0" err="1"/>
              <a:t>thô</a:t>
            </a:r>
            <a:r>
              <a:rPr lang="en-US" sz="2300" dirty="0"/>
              <a:t> </a:t>
            </a:r>
            <a:r>
              <a:rPr lang="en-US" sz="2300" dirty="0" err="1"/>
              <a:t>từ</a:t>
            </a:r>
            <a:r>
              <a:rPr lang="en-US" sz="2300" dirty="0"/>
              <a:t> file CSV/Excel </a:t>
            </a:r>
            <a:r>
              <a:rPr lang="en-US" sz="2300" dirty="0" err="1"/>
              <a:t>nguồn</a:t>
            </a:r>
            <a:r>
              <a:rPr lang="en-US" sz="2300" dirty="0"/>
              <a:t> </a:t>
            </a:r>
            <a:r>
              <a:rPr lang="en-US" sz="2300" dirty="0" err="1"/>
              <a:t>thành</a:t>
            </a:r>
            <a:r>
              <a:rPr lang="en-US" sz="2300" dirty="0"/>
              <a:t> </a:t>
            </a:r>
            <a:r>
              <a:rPr lang="en-US" sz="2300" dirty="0" err="1"/>
              <a:t>cấu</a:t>
            </a:r>
            <a:r>
              <a:rPr lang="en-US" sz="2300" dirty="0"/>
              <a:t> </a:t>
            </a:r>
            <a:r>
              <a:rPr lang="en-US" sz="2300" dirty="0" err="1"/>
              <a:t>trúc</a:t>
            </a:r>
            <a:r>
              <a:rPr lang="en-US" sz="2300" dirty="0"/>
              <a:t> ma </a:t>
            </a:r>
            <a:r>
              <a:rPr lang="en-US" sz="2300" dirty="0" err="1"/>
              <a:t>trận</a:t>
            </a:r>
            <a:r>
              <a:rPr lang="en-US" sz="2300" dirty="0"/>
              <a:t> </a:t>
            </a:r>
            <a:r>
              <a:rPr lang="en-US" sz="2300" dirty="0" err="1"/>
              <a:t>điểm</a:t>
            </a:r>
            <a:r>
              <a:rPr lang="en-US" sz="2300" dirty="0"/>
              <a:t> </a:t>
            </a:r>
            <a:r>
              <a:rPr lang="en-US" sz="2300" dirty="0" err="1"/>
              <a:t>số</a:t>
            </a:r>
            <a:r>
              <a:rPr lang="en-US" sz="2300" dirty="0"/>
              <a:t> </a:t>
            </a:r>
            <a:r>
              <a:rPr lang="en-US" sz="2300" dirty="0" err="1"/>
              <a:t>sạch</a:t>
            </a:r>
            <a:r>
              <a:rPr lang="en-US" sz="2300" dirty="0"/>
              <a:t> </a:t>
            </a:r>
            <a:r>
              <a:rPr lang="en-US" sz="2300" dirty="0" err="1"/>
              <a:t>sẽ</a:t>
            </a:r>
            <a:endParaRPr lang="en-US" sz="2300" dirty="0"/>
          </a:p>
          <a:p>
            <a:r>
              <a:rPr lang="en-US" sz="2300" dirty="0" err="1"/>
              <a:t>Trích</a:t>
            </a:r>
            <a:r>
              <a:rPr lang="en-US" sz="2300" dirty="0"/>
              <a:t> </a:t>
            </a:r>
            <a:r>
              <a:rPr lang="en-US" sz="2300" dirty="0" err="1"/>
              <a:t>xuất</a:t>
            </a:r>
            <a:r>
              <a:rPr lang="en-US" sz="2300" dirty="0"/>
              <a:t> </a:t>
            </a:r>
            <a:r>
              <a:rPr lang="en-US" sz="2300" dirty="0" err="1"/>
              <a:t>thông</a:t>
            </a:r>
            <a:r>
              <a:rPr lang="en-US" sz="2300" dirty="0"/>
              <a:t> tin </a:t>
            </a:r>
            <a:r>
              <a:rPr lang="en-US" sz="2300" dirty="0" err="1"/>
              <a:t>sinh</a:t>
            </a:r>
            <a:r>
              <a:rPr lang="en-US" sz="2300" dirty="0"/>
              <a:t> </a:t>
            </a:r>
            <a:r>
              <a:rPr lang="en-US" sz="2300" dirty="0" err="1"/>
              <a:t>viên</a:t>
            </a:r>
            <a:r>
              <a:rPr lang="en-US" sz="2300" dirty="0"/>
              <a:t> </a:t>
            </a:r>
            <a:r>
              <a:rPr lang="en-US" sz="2300" dirty="0" err="1"/>
              <a:t>từ</a:t>
            </a:r>
            <a:r>
              <a:rPr lang="en-US" sz="2300" dirty="0"/>
              <a:t> </a:t>
            </a:r>
            <a:r>
              <a:rPr lang="en-US" sz="2300" dirty="0" err="1"/>
              <a:t>các</a:t>
            </a:r>
            <a:r>
              <a:rPr lang="en-US" sz="2300" dirty="0"/>
              <a:t> </a:t>
            </a:r>
            <a:r>
              <a:rPr lang="en-US" sz="2300" dirty="0" err="1"/>
              <a:t>hàng</a:t>
            </a:r>
            <a:r>
              <a:rPr lang="en-US" sz="2300" dirty="0"/>
              <a:t> </a:t>
            </a:r>
            <a:r>
              <a:rPr lang="en-US" sz="2300" dirty="0" err="1"/>
              <a:t>cố</a:t>
            </a:r>
            <a:r>
              <a:rPr lang="en-US" sz="2300" dirty="0"/>
              <a:t> </a:t>
            </a:r>
            <a:r>
              <a:rPr lang="en-US" sz="2300" dirty="0" err="1"/>
              <a:t>định</a:t>
            </a:r>
            <a:r>
              <a:rPr lang="en-US" sz="2300" dirty="0"/>
              <a:t> (</a:t>
            </a:r>
            <a:r>
              <a:rPr lang="en-US" sz="2300" dirty="0" err="1"/>
              <a:t>dòng</a:t>
            </a:r>
            <a:r>
              <a:rPr lang="en-US" sz="2300" dirty="0"/>
              <a:t> 2 </a:t>
            </a:r>
            <a:r>
              <a:rPr lang="en-US" sz="2300" dirty="0" err="1"/>
              <a:t>lấy</a:t>
            </a:r>
            <a:r>
              <a:rPr lang="en-US" sz="2300" dirty="0"/>
              <a:t> MSSV, </a:t>
            </a:r>
            <a:r>
              <a:rPr lang="en-US" sz="2300" dirty="0" err="1"/>
              <a:t>dòng</a:t>
            </a:r>
            <a:r>
              <a:rPr lang="en-US" sz="2300" dirty="0"/>
              <a:t> 3 </a:t>
            </a:r>
            <a:r>
              <a:rPr lang="en-US" sz="2300" dirty="0" err="1"/>
              <a:t>lấy</a:t>
            </a:r>
            <a:r>
              <a:rPr lang="en-US" sz="2300" dirty="0"/>
              <a:t> </a:t>
            </a:r>
            <a:r>
              <a:rPr lang="en-US" sz="2300" dirty="0" err="1"/>
              <a:t>Tên</a:t>
            </a:r>
            <a:r>
              <a:rPr lang="en-US" sz="2300" dirty="0"/>
              <a:t> </a:t>
            </a:r>
            <a:r>
              <a:rPr lang="en-US" sz="2300" dirty="0" err="1"/>
              <a:t>sinh</a:t>
            </a:r>
            <a:r>
              <a:rPr lang="en-US" sz="2300" dirty="0"/>
              <a:t> </a:t>
            </a:r>
            <a:r>
              <a:rPr lang="en-US" sz="2300" dirty="0" err="1"/>
              <a:t>viên</a:t>
            </a:r>
            <a:r>
              <a:rPr lang="en-US" sz="2300" dirty="0"/>
              <a:t>).</a:t>
            </a:r>
          </a:p>
          <a:p>
            <a:r>
              <a:rPr lang="en-US" sz="2300" dirty="0"/>
              <a:t>Thuật </a:t>
            </a:r>
            <a:r>
              <a:rPr lang="en-US" sz="2300" dirty="0" err="1"/>
              <a:t>toán</a:t>
            </a:r>
            <a:r>
              <a:rPr lang="en-US" sz="2300" dirty="0"/>
              <a:t> </a:t>
            </a:r>
            <a:r>
              <a:rPr lang="en-US" sz="2300" dirty="0" err="1"/>
              <a:t>ép</a:t>
            </a:r>
            <a:r>
              <a:rPr lang="en-US" sz="2300" dirty="0"/>
              <a:t> </a:t>
            </a:r>
            <a:r>
              <a:rPr lang="en-US" sz="2300" dirty="0" err="1"/>
              <a:t>kiểu</a:t>
            </a:r>
            <a:r>
              <a:rPr lang="en-US" sz="2300" dirty="0"/>
              <a:t> </a:t>
            </a:r>
            <a:r>
              <a:rPr lang="en-US" sz="2300" dirty="0" err="1"/>
              <a:t>và</a:t>
            </a:r>
            <a:r>
              <a:rPr lang="en-US" sz="2300" dirty="0"/>
              <a:t> </a:t>
            </a:r>
            <a:r>
              <a:rPr lang="en-US" sz="2300" dirty="0" err="1"/>
              <a:t>nội</a:t>
            </a:r>
            <a:r>
              <a:rPr lang="en-US" sz="2300" dirty="0"/>
              <a:t> </a:t>
            </a:r>
            <a:r>
              <a:rPr lang="en-US" sz="2300" dirty="0" err="1"/>
              <a:t>suy</a:t>
            </a:r>
            <a:r>
              <a:rPr lang="en-US" sz="2300" dirty="0"/>
              <a:t>: </a:t>
            </a:r>
            <a:r>
              <a:rPr lang="en-US" sz="2300" dirty="0" err="1"/>
              <a:t>Sử</a:t>
            </a:r>
            <a:r>
              <a:rPr lang="en-US" sz="2300" dirty="0"/>
              <a:t> </a:t>
            </a:r>
            <a:r>
              <a:rPr lang="en-US" sz="2300" dirty="0" err="1"/>
              <a:t>dụng</a:t>
            </a:r>
            <a:r>
              <a:rPr lang="en-US" sz="2300" dirty="0"/>
              <a:t> </a:t>
            </a:r>
            <a:r>
              <a:rPr lang="en-US" sz="2300" dirty="0" err="1"/>
              <a:t>hàm</a:t>
            </a:r>
            <a:r>
              <a:rPr lang="en-US" sz="2300" dirty="0"/>
              <a:t> </a:t>
            </a:r>
            <a:r>
              <a:rPr lang="en-US" sz="2300" dirty="0" err="1"/>
              <a:t>pd.to_numeric</a:t>
            </a:r>
            <a:r>
              <a:rPr lang="en-US" sz="2300" dirty="0"/>
              <a:t>(..., errors='coerce') </a:t>
            </a:r>
            <a:r>
              <a:rPr lang="en-US" sz="2300" dirty="0" err="1"/>
              <a:t>để</a:t>
            </a:r>
            <a:r>
              <a:rPr lang="en-US" sz="2300" dirty="0"/>
              <a:t> </a:t>
            </a:r>
            <a:r>
              <a:rPr lang="en-US" sz="2300" dirty="0" err="1"/>
              <a:t>tự</a:t>
            </a:r>
            <a:r>
              <a:rPr lang="en-US" sz="2300" dirty="0"/>
              <a:t> </a:t>
            </a:r>
            <a:r>
              <a:rPr lang="en-US" sz="2300" dirty="0" err="1"/>
              <a:t>động</a:t>
            </a:r>
            <a:r>
              <a:rPr lang="en-US" sz="2300" dirty="0"/>
              <a:t> </a:t>
            </a:r>
            <a:r>
              <a:rPr lang="en-US" sz="2300" dirty="0" err="1"/>
              <a:t>biến</a:t>
            </a:r>
            <a:r>
              <a:rPr lang="en-US" sz="2300" dirty="0"/>
              <a:t> </a:t>
            </a:r>
            <a:r>
              <a:rPr lang="en-US" sz="2300" dirty="0" err="1"/>
              <a:t>các</a:t>
            </a:r>
            <a:r>
              <a:rPr lang="en-US" sz="2300" dirty="0"/>
              <a:t> </a:t>
            </a:r>
            <a:r>
              <a:rPr lang="en-US" sz="2300" dirty="0" err="1"/>
              <a:t>ký</a:t>
            </a:r>
            <a:r>
              <a:rPr lang="en-US" sz="2300" dirty="0"/>
              <a:t> </a:t>
            </a:r>
            <a:r>
              <a:rPr lang="en-US" sz="2300" dirty="0" err="1"/>
              <a:t>tự</a:t>
            </a:r>
            <a:r>
              <a:rPr lang="en-US" sz="2300" dirty="0"/>
              <a:t> </a:t>
            </a:r>
            <a:r>
              <a:rPr lang="en-US" sz="2300" dirty="0" err="1"/>
              <a:t>điểm</a:t>
            </a:r>
            <a:r>
              <a:rPr lang="en-US" sz="2300" dirty="0"/>
              <a:t> </a:t>
            </a:r>
            <a:r>
              <a:rPr lang="en-US" sz="2300" dirty="0" err="1"/>
              <a:t>rỗng</a:t>
            </a:r>
            <a:r>
              <a:rPr lang="en-US" sz="2300" dirty="0"/>
              <a:t>, </a:t>
            </a:r>
            <a:r>
              <a:rPr lang="en-US" sz="2300" dirty="0" err="1"/>
              <a:t>điểm</a:t>
            </a:r>
            <a:r>
              <a:rPr lang="en-US" sz="2300" dirty="0"/>
              <a:t> </a:t>
            </a:r>
            <a:r>
              <a:rPr lang="en-US" sz="2300" dirty="0" err="1"/>
              <a:t>chữ</a:t>
            </a:r>
            <a:r>
              <a:rPr lang="en-US" sz="2300" dirty="0"/>
              <a:t> (A, B, C), </a:t>
            </a:r>
            <a:r>
              <a:rPr lang="en-US" sz="2300" dirty="0" err="1"/>
              <a:t>ký</a:t>
            </a:r>
            <a:r>
              <a:rPr lang="en-US" sz="2300" dirty="0"/>
              <a:t> </a:t>
            </a:r>
            <a:r>
              <a:rPr lang="en-US" sz="2300" dirty="0" err="1"/>
              <a:t>hiệu</a:t>
            </a:r>
            <a:r>
              <a:rPr lang="en-US" sz="2300" dirty="0"/>
              <a:t> </a:t>
            </a:r>
            <a:r>
              <a:rPr lang="en-US" sz="2300" dirty="0" err="1"/>
              <a:t>bỏ</a:t>
            </a:r>
            <a:r>
              <a:rPr lang="en-US" sz="2300" dirty="0"/>
              <a:t> </a:t>
            </a:r>
            <a:r>
              <a:rPr lang="en-US" sz="2300" dirty="0" err="1"/>
              <a:t>thi</a:t>
            </a:r>
            <a:r>
              <a:rPr lang="en-US" sz="2300" dirty="0"/>
              <a:t> (-, x) </a:t>
            </a:r>
            <a:r>
              <a:rPr lang="en-US" sz="2300" dirty="0" err="1"/>
              <a:t>thành</a:t>
            </a:r>
            <a:r>
              <a:rPr lang="en-US" sz="2300" dirty="0"/>
              <a:t> </a:t>
            </a:r>
            <a:r>
              <a:rPr lang="en-US" sz="2300" dirty="0" err="1"/>
              <a:t>giá</a:t>
            </a:r>
            <a:r>
              <a:rPr lang="en-US" sz="2300" dirty="0"/>
              <a:t> </a:t>
            </a:r>
            <a:r>
              <a:rPr lang="en-US" sz="2300" dirty="0" err="1"/>
              <a:t>trị</a:t>
            </a:r>
            <a:r>
              <a:rPr lang="en-US" sz="2300" dirty="0"/>
              <a:t> </a:t>
            </a:r>
            <a:r>
              <a:rPr lang="en-US" sz="2300" dirty="0" err="1"/>
              <a:t>NaN</a:t>
            </a:r>
            <a:r>
              <a:rPr lang="en-US" sz="2300" dirty="0"/>
              <a:t> (</a:t>
            </a:r>
            <a:r>
              <a:rPr lang="en-US" sz="2300" dirty="0" err="1"/>
              <a:t>Khuyết</a:t>
            </a:r>
            <a:r>
              <a:rPr lang="en-US" sz="2300" dirty="0"/>
              <a:t> </a:t>
            </a:r>
            <a:r>
              <a:rPr lang="en-US" sz="2300" dirty="0" err="1"/>
              <a:t>thiếu</a:t>
            </a:r>
            <a:r>
              <a:rPr lang="en-US" sz="2300" dirty="0"/>
              <a:t>).</a:t>
            </a:r>
          </a:p>
          <a:p>
            <a:r>
              <a:rPr lang="en-US" sz="2300" dirty="0" err="1"/>
              <a:t>Loại</a:t>
            </a:r>
            <a:r>
              <a:rPr lang="en-US" sz="2300" dirty="0"/>
              <a:t> </a:t>
            </a:r>
            <a:r>
              <a:rPr lang="en-US" sz="2300" dirty="0" err="1"/>
              <a:t>bỏ</a:t>
            </a:r>
            <a:r>
              <a:rPr lang="en-US" sz="2300" dirty="0"/>
              <a:t> </a:t>
            </a:r>
            <a:r>
              <a:rPr lang="en-US" sz="2300" dirty="0" err="1"/>
              <a:t>các</a:t>
            </a:r>
            <a:r>
              <a:rPr lang="en-US" sz="2300" dirty="0"/>
              <a:t> </a:t>
            </a:r>
            <a:r>
              <a:rPr lang="en-US" sz="2300" dirty="0" err="1"/>
              <a:t>môn</a:t>
            </a:r>
            <a:r>
              <a:rPr lang="en-US" sz="2300" dirty="0"/>
              <a:t> </a:t>
            </a:r>
            <a:r>
              <a:rPr lang="en-US" sz="2300" dirty="0" err="1"/>
              <a:t>học</a:t>
            </a:r>
            <a:r>
              <a:rPr lang="en-US" sz="2300" dirty="0"/>
              <a:t> </a:t>
            </a:r>
            <a:r>
              <a:rPr lang="en-US" sz="2300" dirty="0" err="1"/>
              <a:t>hoặc</a:t>
            </a:r>
            <a:r>
              <a:rPr lang="en-US" sz="2300" dirty="0"/>
              <a:t> </a:t>
            </a:r>
            <a:r>
              <a:rPr lang="en-US" sz="2300" dirty="0" err="1"/>
              <a:t>các</a:t>
            </a:r>
            <a:r>
              <a:rPr lang="en-US" sz="2300" dirty="0"/>
              <a:t> </a:t>
            </a:r>
            <a:r>
              <a:rPr lang="en-US" sz="2300" dirty="0" err="1"/>
              <a:t>cột</a:t>
            </a:r>
            <a:r>
              <a:rPr lang="en-US" sz="2300" dirty="0"/>
              <a:t> </a:t>
            </a:r>
            <a:r>
              <a:rPr lang="en-US" sz="2300" dirty="0" err="1"/>
              <a:t>sinh</a:t>
            </a:r>
            <a:r>
              <a:rPr lang="en-US" sz="2300" dirty="0"/>
              <a:t> </a:t>
            </a:r>
            <a:r>
              <a:rPr lang="en-US" sz="2300" dirty="0" err="1"/>
              <a:t>viên</a:t>
            </a:r>
            <a:r>
              <a:rPr lang="en-US" sz="2300" dirty="0"/>
              <a:t> </a:t>
            </a:r>
            <a:r>
              <a:rPr lang="en-US" sz="2300" dirty="0" err="1"/>
              <a:t>ảo</a:t>
            </a:r>
            <a:r>
              <a:rPr lang="en-US" sz="2300" dirty="0"/>
              <a:t> </a:t>
            </a:r>
            <a:r>
              <a:rPr lang="en-US" sz="2300" dirty="0" err="1"/>
              <a:t>không</a:t>
            </a:r>
            <a:r>
              <a:rPr lang="en-US" sz="2300" dirty="0"/>
              <a:t> </a:t>
            </a:r>
            <a:r>
              <a:rPr lang="en-US" sz="2300" dirty="0" err="1"/>
              <a:t>có</a:t>
            </a:r>
            <a:r>
              <a:rPr lang="en-US" sz="2300" dirty="0"/>
              <a:t> </a:t>
            </a:r>
            <a:r>
              <a:rPr lang="en-US" sz="2300" dirty="0" err="1"/>
              <a:t>dữ</a:t>
            </a:r>
            <a:r>
              <a:rPr lang="en-US" sz="2300" dirty="0"/>
              <a:t> </a:t>
            </a:r>
            <a:r>
              <a:rPr lang="en-US" sz="2300" dirty="0" err="1"/>
              <a:t>liệu</a:t>
            </a:r>
            <a:r>
              <a:rPr lang="en-US" sz="2300" dirty="0"/>
              <a:t> </a:t>
            </a:r>
            <a:r>
              <a:rPr lang="en-US" sz="2300" dirty="0" err="1"/>
              <a:t>để</a:t>
            </a:r>
            <a:r>
              <a:rPr lang="en-US" sz="2300" dirty="0"/>
              <a:t> </a:t>
            </a:r>
            <a:r>
              <a:rPr lang="en-US" sz="2300" dirty="0" err="1"/>
              <a:t>tránh</a:t>
            </a:r>
            <a:r>
              <a:rPr lang="en-US" sz="2300" dirty="0"/>
              <a:t> </a:t>
            </a:r>
            <a:r>
              <a:rPr lang="en-US" sz="2300" dirty="0" err="1"/>
              <a:t>làm</a:t>
            </a:r>
            <a:r>
              <a:rPr lang="en-US" sz="2300" dirty="0"/>
              <a:t> </a:t>
            </a:r>
            <a:r>
              <a:rPr lang="en-US" sz="2300" dirty="0" err="1"/>
              <a:t>sai</a:t>
            </a:r>
            <a:r>
              <a:rPr lang="en-US" sz="2300" dirty="0"/>
              <a:t> </a:t>
            </a:r>
            <a:r>
              <a:rPr lang="en-US" sz="2300" dirty="0" err="1"/>
              <a:t>lệch</a:t>
            </a:r>
            <a:r>
              <a:rPr lang="en-US" sz="2300" dirty="0"/>
              <a:t> </a:t>
            </a:r>
            <a:r>
              <a:rPr lang="en-US" sz="2300" dirty="0" err="1"/>
              <a:t>phân</a:t>
            </a:r>
            <a:r>
              <a:rPr lang="en-US" sz="2300" dirty="0"/>
              <a:t> </a:t>
            </a:r>
            <a:r>
              <a:rPr lang="en-US" sz="2300" dirty="0" err="1"/>
              <a:t>phối</a:t>
            </a:r>
            <a:r>
              <a:rPr lang="en-US" sz="2300" dirty="0"/>
              <a:t> </a:t>
            </a:r>
            <a:r>
              <a:rPr lang="en-US" sz="2300" dirty="0" err="1"/>
              <a:t>phổ</a:t>
            </a:r>
            <a:r>
              <a:rPr lang="en-US" sz="2300" dirty="0"/>
              <a:t> </a:t>
            </a:r>
            <a:r>
              <a:rPr lang="en-US" sz="2300" dirty="0" err="1"/>
              <a:t>điểm</a:t>
            </a:r>
            <a:r>
              <a:rPr lang="en-US" sz="2300" dirty="0"/>
              <a:t> </a:t>
            </a:r>
            <a:r>
              <a:rPr lang="en-US" sz="2300" dirty="0" err="1"/>
              <a:t>chung</a:t>
            </a:r>
            <a:r>
              <a:rPr lang="en-US" sz="2300" dirty="0"/>
              <a:t> </a:t>
            </a:r>
            <a:r>
              <a:rPr lang="en-US" sz="2300" dirty="0" err="1"/>
              <a:t>của</a:t>
            </a:r>
            <a:r>
              <a:rPr lang="en-US" sz="2300" dirty="0"/>
              <a:t> </a:t>
            </a:r>
            <a:r>
              <a:rPr lang="en-US" sz="2300" dirty="0" err="1"/>
              <a:t>lớp</a:t>
            </a:r>
            <a:r>
              <a:rPr lang="en-US" sz="2300" dirty="0"/>
              <a:t>.</a:t>
            </a:r>
          </a:p>
        </p:txBody>
      </p:sp>
      <p:pic>
        <p:nvPicPr>
          <p:cNvPr id="6" name="Picture 5">
            <a:extLst>
              <a:ext uri="{FF2B5EF4-FFF2-40B4-BE49-F238E27FC236}">
                <a16:creationId xmlns:a16="http://schemas.microsoft.com/office/drawing/2014/main" id="{ABDE3911-B845-1A62-5EE8-39105911A84D}"/>
              </a:ext>
            </a:extLst>
          </p:cNvPr>
          <p:cNvPicPr>
            <a:picLocks noChangeAspect="1"/>
          </p:cNvPicPr>
          <p:nvPr/>
        </p:nvPicPr>
        <p:blipFill>
          <a:blip r:embed="rId2"/>
          <a:stretch>
            <a:fillRect/>
          </a:stretch>
        </p:blipFill>
        <p:spPr>
          <a:xfrm>
            <a:off x="4866968" y="560440"/>
            <a:ext cx="7325032" cy="4386820"/>
          </a:xfrm>
          <a:prstGeom prst="rect">
            <a:avLst/>
          </a:prstGeom>
        </p:spPr>
      </p:pic>
      <p:pic>
        <p:nvPicPr>
          <p:cNvPr id="8" name="Picture 7">
            <a:extLst>
              <a:ext uri="{FF2B5EF4-FFF2-40B4-BE49-F238E27FC236}">
                <a16:creationId xmlns:a16="http://schemas.microsoft.com/office/drawing/2014/main" id="{1BE7A32B-6C03-E181-10C2-9898A5B68F90}"/>
              </a:ext>
            </a:extLst>
          </p:cNvPr>
          <p:cNvPicPr>
            <a:picLocks noChangeAspect="1"/>
          </p:cNvPicPr>
          <p:nvPr/>
        </p:nvPicPr>
        <p:blipFill>
          <a:blip r:embed="rId3"/>
          <a:stretch>
            <a:fillRect/>
          </a:stretch>
        </p:blipFill>
        <p:spPr>
          <a:xfrm>
            <a:off x="4866968" y="5799430"/>
            <a:ext cx="4862052" cy="825632"/>
          </a:xfrm>
          <a:prstGeom prst="rect">
            <a:avLst/>
          </a:prstGeom>
        </p:spPr>
      </p:pic>
    </p:spTree>
    <p:extLst>
      <p:ext uri="{BB962C8B-B14F-4D97-AF65-F5344CB8AC3E}">
        <p14:creationId xmlns:p14="http://schemas.microsoft.com/office/powerpoint/2010/main" val="525966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A8CBC-19C3-1C70-D358-7518AEEDC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8C8CAA-F445-0C97-11C8-682F9107BFCB}"/>
              </a:ext>
            </a:extLst>
          </p:cNvPr>
          <p:cNvSpPr>
            <a:spLocks noGrp="1"/>
          </p:cNvSpPr>
          <p:nvPr>
            <p:ph type="title"/>
          </p:nvPr>
        </p:nvSpPr>
        <p:spPr>
          <a:xfrm>
            <a:off x="-1" y="18256"/>
            <a:ext cx="12993329" cy="542184"/>
          </a:xfrm>
        </p:spPr>
        <p:txBody>
          <a:bodyPr>
            <a:normAutofit/>
          </a:bodyPr>
          <a:lstStyle/>
          <a:p>
            <a:r>
              <a:rPr lang="en-US" sz="3000" dirty="0"/>
              <a:t>Cell 3: </a:t>
            </a:r>
            <a:r>
              <a:rPr lang="en-US" sz="3000" dirty="0" err="1"/>
              <a:t>Tiền</a:t>
            </a:r>
            <a:r>
              <a:rPr lang="en-US" sz="3000" dirty="0"/>
              <a:t> </a:t>
            </a:r>
            <a:r>
              <a:rPr lang="en-US" sz="3000" dirty="0" err="1"/>
              <a:t>xử</a:t>
            </a:r>
            <a:r>
              <a:rPr lang="en-US" sz="3000" dirty="0"/>
              <a:t> </a:t>
            </a:r>
            <a:r>
              <a:rPr lang="en-US" sz="3000" dirty="0" err="1"/>
              <a:t>lý</a:t>
            </a:r>
            <a:r>
              <a:rPr lang="en-US" sz="3000" dirty="0"/>
              <a:t> </a:t>
            </a:r>
            <a:r>
              <a:rPr lang="en-US" sz="3000" dirty="0" err="1"/>
              <a:t>dữ</a:t>
            </a:r>
            <a:r>
              <a:rPr lang="en-US" sz="3000" dirty="0"/>
              <a:t> </a:t>
            </a:r>
            <a:r>
              <a:rPr lang="en-US" sz="3000" dirty="0" err="1"/>
              <a:t>liệu</a:t>
            </a:r>
            <a:r>
              <a:rPr lang="en-US" sz="3000" dirty="0"/>
              <a:t> </a:t>
            </a:r>
            <a:r>
              <a:rPr lang="en-US" sz="3000" dirty="0" err="1"/>
              <a:t>động</a:t>
            </a:r>
            <a:r>
              <a:rPr lang="en-US" sz="3000" dirty="0"/>
              <a:t> </a:t>
            </a:r>
            <a:r>
              <a:rPr lang="en-US" sz="3000" dirty="0" err="1"/>
              <a:t>và</a:t>
            </a:r>
            <a:r>
              <a:rPr lang="en-US" sz="3000" dirty="0"/>
              <a:t> </a:t>
            </a:r>
            <a:r>
              <a:rPr lang="en-US" sz="3000" dirty="0" err="1"/>
              <a:t>tính</a:t>
            </a:r>
            <a:r>
              <a:rPr lang="en-US" sz="3000" dirty="0"/>
              <a:t> </a:t>
            </a:r>
            <a:r>
              <a:rPr lang="en-US" sz="3000" dirty="0" err="1"/>
              <a:t>toán</a:t>
            </a:r>
            <a:r>
              <a:rPr lang="en-US" sz="3000" dirty="0"/>
              <a:t> </a:t>
            </a:r>
            <a:r>
              <a:rPr lang="en-US" sz="3000" dirty="0" err="1"/>
              <a:t>điểm</a:t>
            </a:r>
            <a:r>
              <a:rPr lang="en-US" sz="3000" dirty="0"/>
              <a:t> </a:t>
            </a:r>
            <a:r>
              <a:rPr lang="en-US" sz="3000" dirty="0" err="1"/>
              <a:t>tích</a:t>
            </a:r>
            <a:r>
              <a:rPr lang="en-US" sz="3000" dirty="0"/>
              <a:t> </a:t>
            </a:r>
            <a:r>
              <a:rPr lang="en-US" sz="3000" dirty="0" err="1"/>
              <a:t>lũy</a:t>
            </a:r>
            <a:r>
              <a:rPr lang="en-US" sz="3000" dirty="0"/>
              <a:t> </a:t>
            </a:r>
            <a:r>
              <a:rPr lang="en-US" sz="3000" dirty="0" err="1"/>
              <a:t>theo</a:t>
            </a:r>
            <a:r>
              <a:rPr lang="en-US" sz="3000" dirty="0"/>
              <a:t> </a:t>
            </a:r>
            <a:r>
              <a:rPr lang="en-US" sz="3000" dirty="0" err="1"/>
              <a:t>năm</a:t>
            </a:r>
            <a:r>
              <a:rPr lang="en-US" sz="3000" dirty="0"/>
              <a:t> </a:t>
            </a:r>
            <a:r>
              <a:rPr lang="en-US" sz="3000" dirty="0" err="1"/>
              <a:t>học</a:t>
            </a:r>
            <a:endParaRPr lang="en-US" sz="3000" dirty="0"/>
          </a:p>
        </p:txBody>
      </p:sp>
      <p:sp>
        <p:nvSpPr>
          <p:cNvPr id="3" name="Content Placeholder 2">
            <a:extLst>
              <a:ext uri="{FF2B5EF4-FFF2-40B4-BE49-F238E27FC236}">
                <a16:creationId xmlns:a16="http://schemas.microsoft.com/office/drawing/2014/main" id="{F94772EF-DE1D-9B2F-4A13-EEB863A4EB3D}"/>
              </a:ext>
            </a:extLst>
          </p:cNvPr>
          <p:cNvSpPr>
            <a:spLocks noGrp="1"/>
          </p:cNvSpPr>
          <p:nvPr>
            <p:ph idx="1"/>
          </p:nvPr>
        </p:nvSpPr>
        <p:spPr>
          <a:xfrm>
            <a:off x="0" y="670072"/>
            <a:ext cx="5832990" cy="5810863"/>
          </a:xfrm>
        </p:spPr>
        <p:txBody>
          <a:bodyPr>
            <a:normAutofit/>
          </a:bodyPr>
          <a:lstStyle/>
          <a:p>
            <a:pPr marL="0" indent="0">
              <a:buNone/>
            </a:pPr>
            <a:r>
              <a:rPr lang="en-US" sz="2300" dirty="0"/>
              <a:t>Cell code 3 </a:t>
            </a:r>
            <a:r>
              <a:rPr lang="en-US" sz="2300" dirty="0" err="1"/>
              <a:t>Gom</a:t>
            </a:r>
            <a:r>
              <a:rPr lang="en-US" sz="2300" dirty="0"/>
              <a:t> </a:t>
            </a:r>
            <a:r>
              <a:rPr lang="en-US" sz="2300" dirty="0" err="1"/>
              <a:t>nhóm</a:t>
            </a:r>
            <a:r>
              <a:rPr lang="en-US" sz="2300" dirty="0"/>
              <a:t> </a:t>
            </a:r>
            <a:r>
              <a:rPr lang="en-US" sz="2300" dirty="0" err="1"/>
              <a:t>dữ</a:t>
            </a:r>
            <a:r>
              <a:rPr lang="en-US" sz="2300" dirty="0"/>
              <a:t> </a:t>
            </a:r>
            <a:r>
              <a:rPr lang="en-US" sz="2300" dirty="0" err="1"/>
              <a:t>liệu</a:t>
            </a:r>
            <a:r>
              <a:rPr lang="en-US" sz="2300" dirty="0"/>
              <a:t> </a:t>
            </a:r>
            <a:r>
              <a:rPr lang="en-US" sz="2300" dirty="0" err="1"/>
              <a:t>theo</a:t>
            </a:r>
            <a:r>
              <a:rPr lang="en-US" sz="2300" dirty="0"/>
              <a:t> </a:t>
            </a:r>
            <a:r>
              <a:rPr lang="en-US" sz="2300" dirty="0" err="1"/>
              <a:t>từng</a:t>
            </a:r>
            <a:r>
              <a:rPr lang="en-US" sz="2300" dirty="0"/>
              <a:t> </a:t>
            </a:r>
            <a:r>
              <a:rPr lang="en-US" sz="2300" dirty="0" err="1"/>
              <a:t>năm</a:t>
            </a:r>
            <a:r>
              <a:rPr lang="en-US" sz="2300" dirty="0"/>
              <a:t> </a:t>
            </a:r>
            <a:r>
              <a:rPr lang="en-US" sz="2300" dirty="0" err="1"/>
              <a:t>học</a:t>
            </a:r>
            <a:r>
              <a:rPr lang="en-US" sz="2300" dirty="0"/>
              <a:t> </a:t>
            </a:r>
            <a:r>
              <a:rPr lang="en-US" sz="2300" dirty="0" err="1"/>
              <a:t>để</a:t>
            </a:r>
            <a:r>
              <a:rPr lang="en-US" sz="2300" dirty="0"/>
              <a:t> </a:t>
            </a:r>
            <a:r>
              <a:rPr lang="en-US" sz="2300" dirty="0" err="1"/>
              <a:t>tạo</a:t>
            </a:r>
            <a:r>
              <a:rPr lang="en-US" sz="2300" dirty="0"/>
              <a:t> </a:t>
            </a:r>
            <a:r>
              <a:rPr lang="en-US" sz="2300" dirty="0" err="1"/>
              <a:t>ra</a:t>
            </a:r>
            <a:r>
              <a:rPr lang="en-US" sz="2300" dirty="0"/>
              <a:t> </a:t>
            </a:r>
            <a:r>
              <a:rPr lang="en-US" sz="2300" dirty="0" err="1"/>
              <a:t>các</a:t>
            </a:r>
            <a:r>
              <a:rPr lang="en-US" sz="2300" dirty="0"/>
              <a:t> </a:t>
            </a:r>
            <a:r>
              <a:rPr lang="en-US" sz="2300" dirty="0" err="1"/>
              <a:t>biến</a:t>
            </a:r>
            <a:r>
              <a:rPr lang="en-US" sz="2300" dirty="0"/>
              <a:t> </a:t>
            </a:r>
            <a:r>
              <a:rPr lang="en-US" sz="2300" dirty="0" err="1"/>
              <a:t>đầu</a:t>
            </a:r>
            <a:r>
              <a:rPr lang="en-US" sz="2300" dirty="0"/>
              <a:t> </a:t>
            </a:r>
            <a:r>
              <a:rPr lang="en-US" sz="2300" dirty="0" err="1"/>
              <a:t>vào</a:t>
            </a:r>
            <a:r>
              <a:rPr lang="en-US" sz="2300" dirty="0"/>
              <a:t> (GPA_Nam1 </a:t>
            </a:r>
            <a:r>
              <a:rPr lang="en-US" sz="2300" dirty="0" err="1"/>
              <a:t>đến</a:t>
            </a:r>
            <a:r>
              <a:rPr lang="en-US" sz="2300" dirty="0"/>
              <a:t> GPA_Nam4) </a:t>
            </a:r>
            <a:r>
              <a:rPr lang="en-US" sz="2300" dirty="0" err="1"/>
              <a:t>phục</a:t>
            </a:r>
            <a:r>
              <a:rPr lang="en-US" sz="2300" dirty="0"/>
              <a:t> </a:t>
            </a:r>
            <a:r>
              <a:rPr lang="en-US" sz="2300" dirty="0" err="1"/>
              <a:t>vụ</a:t>
            </a:r>
            <a:r>
              <a:rPr lang="en-US" sz="2300" dirty="0"/>
              <a:t> </a:t>
            </a:r>
            <a:r>
              <a:rPr lang="en-US" sz="2300" dirty="0" err="1"/>
              <a:t>phân</a:t>
            </a:r>
            <a:r>
              <a:rPr lang="en-US" sz="2300" dirty="0"/>
              <a:t> </a:t>
            </a:r>
            <a:r>
              <a:rPr lang="en-US" sz="2300" dirty="0" err="1"/>
              <a:t>tích</a:t>
            </a:r>
            <a:r>
              <a:rPr lang="en-US" sz="2300" dirty="0"/>
              <a:t> </a:t>
            </a:r>
            <a:r>
              <a:rPr lang="en-US" sz="2300" dirty="0" err="1"/>
              <a:t>điểm</a:t>
            </a:r>
            <a:r>
              <a:rPr lang="en-US" sz="2300" dirty="0"/>
              <a:t> </a:t>
            </a:r>
            <a:r>
              <a:rPr lang="en-US" sz="2300" dirty="0" err="1"/>
              <a:t>tích</a:t>
            </a:r>
            <a:r>
              <a:rPr lang="en-US" sz="2300" dirty="0"/>
              <a:t> </a:t>
            </a:r>
            <a:r>
              <a:rPr lang="en-US" sz="2300" dirty="0" err="1"/>
              <a:t>lũy</a:t>
            </a:r>
            <a:r>
              <a:rPr lang="en-US" sz="2300" dirty="0"/>
              <a:t> </a:t>
            </a:r>
            <a:r>
              <a:rPr lang="en-US" sz="2300" dirty="0" err="1"/>
              <a:t>theo</a:t>
            </a:r>
            <a:r>
              <a:rPr lang="en-US" sz="2300" dirty="0"/>
              <a:t> </a:t>
            </a:r>
            <a:r>
              <a:rPr lang="en-US" sz="2300" dirty="0" err="1"/>
              <a:t>trục</a:t>
            </a:r>
            <a:r>
              <a:rPr lang="en-US" sz="2300" dirty="0"/>
              <a:t> </a:t>
            </a:r>
            <a:r>
              <a:rPr lang="en-US" sz="2300" dirty="0" err="1"/>
              <a:t>thời</a:t>
            </a:r>
            <a:r>
              <a:rPr lang="en-US" sz="2300" dirty="0"/>
              <a:t> </a:t>
            </a:r>
            <a:r>
              <a:rPr lang="en-US" sz="2300" dirty="0" err="1"/>
              <a:t>gian</a:t>
            </a:r>
            <a:r>
              <a:rPr lang="en-US" sz="2300" dirty="0"/>
              <a:t>.</a:t>
            </a:r>
          </a:p>
          <a:p>
            <a:r>
              <a:rPr lang="en-US" sz="2300" dirty="0" err="1"/>
              <a:t>Sử</a:t>
            </a:r>
            <a:r>
              <a:rPr lang="en-US" sz="2300" dirty="0"/>
              <a:t> </a:t>
            </a:r>
            <a:r>
              <a:rPr lang="en-US" sz="2300" dirty="0" err="1"/>
              <a:t>dụng</a:t>
            </a:r>
            <a:r>
              <a:rPr lang="en-US" sz="2300" dirty="0"/>
              <a:t> </a:t>
            </a:r>
            <a:r>
              <a:rPr lang="en-US" sz="2300" dirty="0" err="1"/>
              <a:t>kỹ</a:t>
            </a:r>
            <a:r>
              <a:rPr lang="en-US" sz="2300" dirty="0"/>
              <a:t> thuật </a:t>
            </a:r>
            <a:r>
              <a:rPr lang="en-US" sz="2300" dirty="0" err="1"/>
              <a:t>Mặt</a:t>
            </a:r>
            <a:r>
              <a:rPr lang="en-US" sz="2300" dirty="0"/>
              <a:t> </a:t>
            </a:r>
            <a:r>
              <a:rPr lang="en-US" sz="2300" dirty="0" err="1"/>
              <a:t>nạ</a:t>
            </a:r>
            <a:r>
              <a:rPr lang="en-US" sz="2300" dirty="0"/>
              <a:t> logic (Boolean Masking) </a:t>
            </a:r>
            <a:r>
              <a:rPr lang="en-US" sz="2300" dirty="0" err="1"/>
              <a:t>lọc</a:t>
            </a:r>
            <a:r>
              <a:rPr lang="en-US" sz="2300" dirty="0"/>
              <a:t> </a:t>
            </a:r>
            <a:r>
              <a:rPr lang="en-US" sz="2300" dirty="0" err="1"/>
              <a:t>dữ</a:t>
            </a:r>
            <a:r>
              <a:rPr lang="en-US" sz="2300" dirty="0"/>
              <a:t> </a:t>
            </a:r>
            <a:r>
              <a:rPr lang="en-US" sz="2300" dirty="0" err="1"/>
              <a:t>liệu</a:t>
            </a:r>
            <a:r>
              <a:rPr lang="en-US" sz="2300" dirty="0"/>
              <a:t> </a:t>
            </a:r>
            <a:r>
              <a:rPr lang="en-US" sz="2300" dirty="0" err="1"/>
              <a:t>dựa</a:t>
            </a:r>
            <a:r>
              <a:rPr lang="en-US" sz="2300" dirty="0"/>
              <a:t> </a:t>
            </a:r>
            <a:r>
              <a:rPr lang="en-US" sz="2300" dirty="0" err="1"/>
              <a:t>trên</a:t>
            </a:r>
            <a:r>
              <a:rPr lang="en-US" sz="2300" dirty="0"/>
              <a:t> </a:t>
            </a:r>
            <a:r>
              <a:rPr lang="en-US" sz="2300" dirty="0" err="1"/>
              <a:t>cột</a:t>
            </a:r>
            <a:r>
              <a:rPr lang="en-US" sz="2300" dirty="0"/>
              <a:t> </a:t>
            </a:r>
            <a:r>
              <a:rPr lang="en-US" sz="2300" dirty="0" err="1"/>
              <a:t>Nam_Hoc</a:t>
            </a:r>
            <a:r>
              <a:rPr lang="en-US" sz="2300" dirty="0"/>
              <a:t> </a:t>
            </a:r>
            <a:r>
              <a:rPr lang="en-US" sz="2300" dirty="0" err="1"/>
              <a:t>và</a:t>
            </a:r>
            <a:r>
              <a:rPr lang="en-US" sz="2300" dirty="0"/>
              <a:t> </a:t>
            </a:r>
            <a:r>
              <a:rPr lang="en-US" sz="2300" dirty="0" err="1"/>
              <a:t>Hoc_Ky</a:t>
            </a:r>
            <a:r>
              <a:rPr lang="en-US" sz="2300" dirty="0"/>
              <a:t>.</a:t>
            </a:r>
          </a:p>
          <a:p>
            <a:r>
              <a:rPr lang="en-US" sz="2400" dirty="0" err="1"/>
              <a:t>Tính</a:t>
            </a:r>
            <a:r>
              <a:rPr lang="en-US" sz="2400" dirty="0"/>
              <a:t> </a:t>
            </a:r>
            <a:r>
              <a:rPr lang="en-US" sz="2400" dirty="0" err="1"/>
              <a:t>điểm</a:t>
            </a:r>
            <a:r>
              <a:rPr lang="en-US" sz="2400" dirty="0"/>
              <a:t> </a:t>
            </a:r>
            <a:r>
              <a:rPr lang="en-US" sz="2400" dirty="0" err="1"/>
              <a:t>trung</a:t>
            </a:r>
            <a:r>
              <a:rPr lang="en-US" sz="2400" dirty="0"/>
              <a:t> </a:t>
            </a:r>
            <a:r>
              <a:rPr lang="en-US" sz="2400" dirty="0" err="1"/>
              <a:t>bình</a:t>
            </a:r>
            <a:r>
              <a:rPr lang="en-US" sz="2400" dirty="0"/>
              <a:t> (</a:t>
            </a:r>
            <a:r>
              <a:rPr lang="en-US" dirty="0" err="1"/>
              <a:t>np.nanmean</a:t>
            </a:r>
            <a:r>
              <a:rPr lang="en-US" sz="2400" dirty="0"/>
              <a:t>) </a:t>
            </a:r>
            <a:r>
              <a:rPr lang="en-US" sz="2400" dirty="0" err="1"/>
              <a:t>riêng</a:t>
            </a:r>
            <a:r>
              <a:rPr lang="en-US" sz="2400" dirty="0"/>
              <a:t> </a:t>
            </a:r>
            <a:r>
              <a:rPr lang="en-US" sz="2400" dirty="0" err="1"/>
              <a:t>cho</a:t>
            </a:r>
            <a:r>
              <a:rPr lang="en-US" sz="2400" dirty="0"/>
              <a:t> </a:t>
            </a:r>
            <a:r>
              <a:rPr lang="en-US" sz="2400" dirty="0" err="1"/>
              <a:t>từng</a:t>
            </a:r>
            <a:r>
              <a:rPr lang="en-US" sz="2400" dirty="0"/>
              <a:t> </a:t>
            </a:r>
            <a:r>
              <a:rPr lang="en-US" sz="2400" dirty="0" err="1"/>
              <a:t>sinh</a:t>
            </a:r>
            <a:r>
              <a:rPr lang="en-US" sz="2400" dirty="0"/>
              <a:t> </a:t>
            </a:r>
            <a:r>
              <a:rPr lang="en-US" sz="2400" dirty="0" err="1"/>
              <a:t>viên</a:t>
            </a:r>
            <a:r>
              <a:rPr lang="en-US" sz="2400" dirty="0"/>
              <a:t> qua </a:t>
            </a:r>
            <a:r>
              <a:rPr lang="en-US" sz="2400" dirty="0" err="1"/>
              <a:t>các</a:t>
            </a:r>
            <a:r>
              <a:rPr lang="en-US" sz="2400" dirty="0"/>
              <a:t> </a:t>
            </a:r>
            <a:r>
              <a:rPr lang="en-US" sz="2400" dirty="0" err="1"/>
              <a:t>cột</a:t>
            </a:r>
            <a:r>
              <a:rPr lang="en-US" sz="2400" dirty="0"/>
              <a:t> </a:t>
            </a:r>
            <a:r>
              <a:rPr lang="en-US" sz="2400" dirty="0" err="1"/>
              <a:t>mốc</a:t>
            </a:r>
            <a:r>
              <a:rPr lang="en-US" sz="2400" dirty="0"/>
              <a:t> </a:t>
            </a:r>
            <a:r>
              <a:rPr lang="en-US" sz="2400" dirty="0" err="1"/>
              <a:t>thời</a:t>
            </a:r>
            <a:r>
              <a:rPr lang="en-US" sz="2400" dirty="0"/>
              <a:t> </a:t>
            </a:r>
            <a:r>
              <a:rPr lang="en-US" sz="2400" dirty="0" err="1"/>
              <a:t>gian</a:t>
            </a:r>
            <a:r>
              <a:rPr lang="en-US" sz="2400" dirty="0"/>
              <a:t> </a:t>
            </a:r>
            <a:r>
              <a:rPr lang="en-US" sz="2400" dirty="0" err="1"/>
              <a:t>độc</a:t>
            </a:r>
            <a:r>
              <a:rPr lang="en-US" sz="2400" dirty="0"/>
              <a:t> </a:t>
            </a:r>
            <a:r>
              <a:rPr lang="en-US" sz="2400" dirty="0" err="1"/>
              <a:t>lập</a:t>
            </a:r>
            <a:r>
              <a:rPr lang="en-US" sz="2400" dirty="0"/>
              <a:t>. </a:t>
            </a:r>
            <a:r>
              <a:rPr lang="en-US" sz="2400" dirty="0" err="1"/>
              <a:t>Kết</a:t>
            </a:r>
            <a:r>
              <a:rPr lang="en-US" sz="2400" dirty="0"/>
              <a:t> </a:t>
            </a:r>
            <a:r>
              <a:rPr lang="en-US" sz="2400" dirty="0" err="1"/>
              <a:t>quả</a:t>
            </a:r>
            <a:r>
              <a:rPr lang="en-US" sz="2400" dirty="0"/>
              <a:t> </a:t>
            </a:r>
            <a:r>
              <a:rPr lang="en-US" sz="2400" dirty="0" err="1"/>
              <a:t>đầu</a:t>
            </a:r>
            <a:r>
              <a:rPr lang="en-US" sz="2400" dirty="0"/>
              <a:t> </a:t>
            </a:r>
            <a:r>
              <a:rPr lang="en-US" sz="2400" dirty="0" err="1"/>
              <a:t>ra</a:t>
            </a:r>
            <a:r>
              <a:rPr lang="en-US" sz="2400" dirty="0"/>
              <a:t> </a:t>
            </a:r>
            <a:r>
              <a:rPr lang="en-US" sz="2400" dirty="0" err="1"/>
              <a:t>là</a:t>
            </a:r>
            <a:r>
              <a:rPr lang="en-US" sz="2400" dirty="0"/>
              <a:t> </a:t>
            </a:r>
            <a:r>
              <a:rPr lang="en-US" sz="2400" dirty="0" err="1"/>
              <a:t>một</a:t>
            </a:r>
            <a:r>
              <a:rPr lang="en-US" sz="2400" dirty="0"/>
              <a:t> </a:t>
            </a:r>
            <a:r>
              <a:rPr lang="en-US" sz="2400" dirty="0" err="1"/>
              <a:t>bảng</a:t>
            </a:r>
            <a:r>
              <a:rPr lang="en-US" sz="2400" dirty="0"/>
              <a:t> </a:t>
            </a:r>
            <a:r>
              <a:rPr lang="en-US" sz="2400" dirty="0" err="1"/>
              <a:t>thuộc</a:t>
            </a:r>
            <a:r>
              <a:rPr lang="en-US" sz="2400" dirty="0"/>
              <a:t> </a:t>
            </a:r>
            <a:r>
              <a:rPr lang="en-US" sz="2400" dirty="0" err="1"/>
              <a:t>tính</a:t>
            </a:r>
            <a:r>
              <a:rPr lang="en-US" sz="2400" dirty="0"/>
              <a:t> </a:t>
            </a:r>
            <a:r>
              <a:rPr lang="en-US" sz="2400" dirty="0" err="1"/>
              <a:t>đa</a:t>
            </a:r>
            <a:r>
              <a:rPr lang="en-US" sz="2400" dirty="0"/>
              <a:t> </a:t>
            </a:r>
            <a:r>
              <a:rPr lang="en-US" sz="2400" dirty="0" err="1"/>
              <a:t>chiều</a:t>
            </a:r>
            <a:r>
              <a:rPr lang="en-US" sz="2400" dirty="0"/>
              <a:t> (</a:t>
            </a:r>
            <a:r>
              <a:rPr lang="en-US" dirty="0" err="1"/>
              <a:t>X_timeline</a:t>
            </a:r>
            <a:r>
              <a:rPr lang="en-US" sz="2400" dirty="0"/>
              <a:t>), </a:t>
            </a:r>
            <a:r>
              <a:rPr lang="en-US" sz="2400" dirty="0" err="1"/>
              <a:t>đại</a:t>
            </a:r>
            <a:r>
              <a:rPr lang="en-US" sz="2400" dirty="0"/>
              <a:t> </a:t>
            </a:r>
            <a:r>
              <a:rPr lang="en-US" sz="2400" dirty="0" err="1"/>
              <a:t>diện</a:t>
            </a:r>
            <a:r>
              <a:rPr lang="en-US" sz="2400" dirty="0"/>
              <a:t> </a:t>
            </a:r>
            <a:r>
              <a:rPr lang="en-US" sz="2400" dirty="0" err="1"/>
              <a:t>cho</a:t>
            </a:r>
            <a:r>
              <a:rPr lang="en-US" sz="2400" dirty="0"/>
              <a:t> vector </a:t>
            </a:r>
            <a:r>
              <a:rPr lang="en-US" sz="2400" dirty="0" err="1"/>
              <a:t>dịch</a:t>
            </a:r>
            <a:r>
              <a:rPr lang="en-US" sz="2400" dirty="0"/>
              <a:t> </a:t>
            </a:r>
            <a:r>
              <a:rPr lang="en-US" sz="2400" dirty="0" err="1"/>
              <a:t>chuyển</a:t>
            </a:r>
            <a:r>
              <a:rPr lang="en-US" sz="2400" dirty="0"/>
              <a:t> </a:t>
            </a:r>
            <a:r>
              <a:rPr lang="en-US" sz="2400" dirty="0" err="1"/>
              <a:t>phong</a:t>
            </a:r>
            <a:r>
              <a:rPr lang="en-US" sz="2400" dirty="0"/>
              <a:t> </a:t>
            </a:r>
            <a:r>
              <a:rPr lang="en-US" sz="2400" dirty="0" err="1"/>
              <a:t>độ</a:t>
            </a:r>
            <a:r>
              <a:rPr lang="en-US" sz="2400" dirty="0"/>
              <a:t> </a:t>
            </a:r>
            <a:r>
              <a:rPr lang="en-US" sz="2400" dirty="0" err="1"/>
              <a:t>học</a:t>
            </a:r>
            <a:r>
              <a:rPr lang="en-US" sz="2400" dirty="0"/>
              <a:t> </a:t>
            </a:r>
            <a:r>
              <a:rPr lang="en-US" sz="2400" dirty="0" err="1"/>
              <a:t>tập</a:t>
            </a:r>
            <a:r>
              <a:rPr lang="en-US" sz="2400" dirty="0"/>
              <a:t> 4 </a:t>
            </a:r>
            <a:r>
              <a:rPr lang="en-US" sz="2400" dirty="0" err="1"/>
              <a:t>năm</a:t>
            </a:r>
            <a:r>
              <a:rPr lang="en-US" sz="2400" dirty="0"/>
              <a:t> </a:t>
            </a:r>
            <a:r>
              <a:rPr lang="en-US" sz="2400" dirty="0" err="1"/>
              <a:t>của</a:t>
            </a:r>
            <a:r>
              <a:rPr lang="en-US" sz="2400" dirty="0"/>
              <a:t> </a:t>
            </a:r>
            <a:r>
              <a:rPr lang="en-US" sz="2400" dirty="0" err="1"/>
              <a:t>từng</a:t>
            </a:r>
            <a:r>
              <a:rPr lang="en-US" sz="2400" dirty="0"/>
              <a:t> </a:t>
            </a:r>
            <a:r>
              <a:rPr lang="en-US" sz="2400" dirty="0" err="1"/>
              <a:t>cá</a:t>
            </a:r>
            <a:r>
              <a:rPr lang="en-US" sz="2400" dirty="0"/>
              <a:t> </a:t>
            </a:r>
            <a:r>
              <a:rPr lang="en-US" sz="2400" dirty="0" err="1"/>
              <a:t>nhân</a:t>
            </a:r>
            <a:r>
              <a:rPr lang="en-US" sz="2400" dirty="0"/>
              <a:t>.</a:t>
            </a:r>
            <a:endParaRPr lang="en-US" sz="2300" dirty="0"/>
          </a:p>
        </p:txBody>
      </p:sp>
      <p:pic>
        <p:nvPicPr>
          <p:cNvPr id="5" name="Picture 4">
            <a:extLst>
              <a:ext uri="{FF2B5EF4-FFF2-40B4-BE49-F238E27FC236}">
                <a16:creationId xmlns:a16="http://schemas.microsoft.com/office/drawing/2014/main" id="{2BF37EFD-1B6C-255C-603E-4E529162DD27}"/>
              </a:ext>
            </a:extLst>
          </p:cNvPr>
          <p:cNvPicPr>
            <a:picLocks noChangeAspect="1"/>
          </p:cNvPicPr>
          <p:nvPr/>
        </p:nvPicPr>
        <p:blipFill>
          <a:blip r:embed="rId2"/>
          <a:srcRect b="6098"/>
          <a:stretch>
            <a:fillRect/>
          </a:stretch>
        </p:blipFill>
        <p:spPr>
          <a:xfrm>
            <a:off x="5832989" y="670072"/>
            <a:ext cx="6359011" cy="4536109"/>
          </a:xfrm>
          <a:prstGeom prst="rect">
            <a:avLst/>
          </a:prstGeom>
        </p:spPr>
      </p:pic>
      <p:pic>
        <p:nvPicPr>
          <p:cNvPr id="9" name="Picture 8">
            <a:extLst>
              <a:ext uri="{FF2B5EF4-FFF2-40B4-BE49-F238E27FC236}">
                <a16:creationId xmlns:a16="http://schemas.microsoft.com/office/drawing/2014/main" id="{4C82947C-4944-0E42-7383-2F692C55E086}"/>
              </a:ext>
            </a:extLst>
          </p:cNvPr>
          <p:cNvPicPr>
            <a:picLocks noChangeAspect="1"/>
          </p:cNvPicPr>
          <p:nvPr/>
        </p:nvPicPr>
        <p:blipFill>
          <a:blip r:embed="rId3"/>
          <a:srcRect b="40008"/>
          <a:stretch>
            <a:fillRect/>
          </a:stretch>
        </p:blipFill>
        <p:spPr>
          <a:xfrm>
            <a:off x="5832989" y="5315813"/>
            <a:ext cx="5774634" cy="1542187"/>
          </a:xfrm>
          <a:prstGeom prst="rect">
            <a:avLst/>
          </a:prstGeom>
        </p:spPr>
      </p:pic>
      <p:sp>
        <p:nvSpPr>
          <p:cNvPr id="11" name="Rectangle 10">
            <a:extLst>
              <a:ext uri="{FF2B5EF4-FFF2-40B4-BE49-F238E27FC236}">
                <a16:creationId xmlns:a16="http://schemas.microsoft.com/office/drawing/2014/main" id="{C181405D-9F56-01FB-F859-ED05A52FB392}"/>
              </a:ext>
            </a:extLst>
          </p:cNvPr>
          <p:cNvSpPr/>
          <p:nvPr/>
        </p:nvSpPr>
        <p:spPr>
          <a:xfrm>
            <a:off x="-1" y="0"/>
            <a:ext cx="12192001" cy="471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7693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19F15-FA6C-2708-B011-0FA17ECF9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BA47A-B317-42A5-3EE0-0638957311D5}"/>
              </a:ext>
            </a:extLst>
          </p:cNvPr>
          <p:cNvSpPr>
            <a:spLocks noGrp="1"/>
          </p:cNvSpPr>
          <p:nvPr>
            <p:ph type="title"/>
          </p:nvPr>
        </p:nvSpPr>
        <p:spPr>
          <a:xfrm>
            <a:off x="-1" y="18256"/>
            <a:ext cx="12993329" cy="542184"/>
          </a:xfrm>
        </p:spPr>
        <p:txBody>
          <a:bodyPr>
            <a:normAutofit/>
          </a:bodyPr>
          <a:lstStyle/>
          <a:p>
            <a:r>
              <a:rPr lang="en-US" sz="3000" dirty="0"/>
              <a:t>Cell 4: </a:t>
            </a:r>
            <a:r>
              <a:rPr lang="en-US" sz="3000" dirty="0" err="1"/>
              <a:t>Khảo</a:t>
            </a:r>
            <a:r>
              <a:rPr lang="en-US" sz="3000" dirty="0"/>
              <a:t> </a:t>
            </a:r>
            <a:r>
              <a:rPr lang="en-US" sz="3000" dirty="0" err="1"/>
              <a:t>sát</a:t>
            </a:r>
            <a:r>
              <a:rPr lang="en-US" sz="3000" dirty="0"/>
              <a:t> </a:t>
            </a:r>
            <a:r>
              <a:rPr lang="en-US" sz="3000" dirty="0" err="1"/>
              <a:t>Số</a:t>
            </a:r>
            <a:r>
              <a:rPr lang="en-US" sz="3000" dirty="0"/>
              <a:t> </a:t>
            </a:r>
            <a:r>
              <a:rPr lang="en-US" sz="3000" dirty="0" err="1"/>
              <a:t>cụm</a:t>
            </a:r>
            <a:r>
              <a:rPr lang="en-US" sz="3000" dirty="0"/>
              <a:t> </a:t>
            </a:r>
            <a:r>
              <a:rPr lang="en-US" sz="3000" dirty="0" err="1"/>
              <a:t>Tối</a:t>
            </a:r>
            <a:r>
              <a:rPr lang="en-US" sz="3000" dirty="0"/>
              <a:t> </a:t>
            </a:r>
            <a:r>
              <a:rPr lang="en-US" sz="3000" dirty="0" err="1"/>
              <a:t>ưu</a:t>
            </a:r>
            <a:r>
              <a:rPr lang="en-US" sz="3000" dirty="0"/>
              <a:t> K (Phương </a:t>
            </a:r>
            <a:r>
              <a:rPr lang="en-US" sz="3000" dirty="0" err="1"/>
              <a:t>pháp</a:t>
            </a:r>
            <a:r>
              <a:rPr lang="en-US" sz="3000" dirty="0"/>
              <a:t> </a:t>
            </a:r>
            <a:r>
              <a:rPr lang="en-US" sz="3000" dirty="0" err="1"/>
              <a:t>Cùi</a:t>
            </a:r>
            <a:r>
              <a:rPr lang="en-US" sz="3000" dirty="0"/>
              <a:t> </a:t>
            </a:r>
            <a:r>
              <a:rPr lang="en-US" sz="3000" dirty="0" err="1"/>
              <a:t>chỏ</a:t>
            </a:r>
            <a:r>
              <a:rPr lang="en-US" sz="3000" dirty="0"/>
              <a:t> - Elbow Method)</a:t>
            </a:r>
          </a:p>
        </p:txBody>
      </p:sp>
      <p:sp>
        <p:nvSpPr>
          <p:cNvPr id="3" name="Content Placeholder 2">
            <a:extLst>
              <a:ext uri="{FF2B5EF4-FFF2-40B4-BE49-F238E27FC236}">
                <a16:creationId xmlns:a16="http://schemas.microsoft.com/office/drawing/2014/main" id="{09F2393B-C8EF-CA3C-3EFF-93C23D73FB71}"/>
              </a:ext>
            </a:extLst>
          </p:cNvPr>
          <p:cNvSpPr>
            <a:spLocks noGrp="1"/>
          </p:cNvSpPr>
          <p:nvPr>
            <p:ph idx="1"/>
          </p:nvPr>
        </p:nvSpPr>
        <p:spPr>
          <a:xfrm>
            <a:off x="0" y="670072"/>
            <a:ext cx="5370514" cy="5810863"/>
          </a:xfrm>
        </p:spPr>
        <p:txBody>
          <a:bodyPr>
            <a:normAutofit/>
          </a:bodyPr>
          <a:lstStyle/>
          <a:p>
            <a:pPr marL="0" indent="0">
              <a:buNone/>
            </a:pPr>
            <a:r>
              <a:rPr lang="en-US" sz="2300" dirty="0"/>
              <a:t>Cell code 4 </a:t>
            </a:r>
            <a:r>
              <a:rPr lang="en-US" sz="2400" dirty="0" err="1"/>
              <a:t>Xác</a:t>
            </a:r>
            <a:r>
              <a:rPr lang="en-US" sz="2400" dirty="0"/>
              <a:t> </a:t>
            </a:r>
            <a:r>
              <a:rPr lang="en-US" sz="2400" dirty="0" err="1"/>
              <a:t>định</a:t>
            </a:r>
            <a:r>
              <a:rPr lang="en-US" sz="2400" dirty="0"/>
              <a:t> </a:t>
            </a:r>
            <a:r>
              <a:rPr lang="en-US" sz="2400" dirty="0" err="1"/>
              <a:t>xem</a:t>
            </a:r>
            <a:r>
              <a:rPr lang="en-US" sz="2400" dirty="0"/>
              <a:t> </a:t>
            </a:r>
            <a:r>
              <a:rPr lang="en-US" sz="2400" dirty="0" err="1"/>
              <a:t>phân</a:t>
            </a:r>
            <a:r>
              <a:rPr lang="en-US" sz="2400" dirty="0"/>
              <a:t> chia </a:t>
            </a:r>
            <a:r>
              <a:rPr lang="en-US" sz="2400" dirty="0" err="1"/>
              <a:t>lớp</a:t>
            </a:r>
            <a:r>
              <a:rPr lang="en-US" sz="2400" dirty="0"/>
              <a:t> </a:t>
            </a:r>
            <a:r>
              <a:rPr lang="en-US" sz="2400" dirty="0" err="1"/>
              <a:t>học</a:t>
            </a:r>
            <a:r>
              <a:rPr lang="en-US" sz="2400" dirty="0"/>
              <a:t> </a:t>
            </a:r>
            <a:r>
              <a:rPr lang="en-US" sz="2400" dirty="0" err="1"/>
              <a:t>thành</a:t>
            </a:r>
            <a:r>
              <a:rPr lang="en-US" sz="2400" dirty="0"/>
              <a:t> bao </a:t>
            </a:r>
            <a:r>
              <a:rPr lang="en-US" sz="2400" dirty="0" err="1"/>
              <a:t>nhiêu</a:t>
            </a:r>
            <a:r>
              <a:rPr lang="en-US" sz="2400" dirty="0"/>
              <a:t> </a:t>
            </a:r>
            <a:r>
              <a:rPr lang="en-US" sz="2400" dirty="0" err="1"/>
              <a:t>nhóm</a:t>
            </a:r>
            <a:r>
              <a:rPr lang="en-US" sz="2400" dirty="0"/>
              <a:t> </a:t>
            </a:r>
            <a:r>
              <a:rPr lang="en-US" sz="2400" dirty="0" err="1"/>
              <a:t>học</a:t>
            </a:r>
            <a:r>
              <a:rPr lang="en-US" sz="2400" dirty="0"/>
              <a:t> </a:t>
            </a:r>
            <a:r>
              <a:rPr lang="en-US" sz="2400" dirty="0" err="1"/>
              <a:t>lực</a:t>
            </a:r>
            <a:r>
              <a:rPr lang="en-US" sz="2400" dirty="0"/>
              <a:t> </a:t>
            </a:r>
            <a:r>
              <a:rPr lang="en-US" sz="2400" dirty="0" err="1"/>
              <a:t>là</a:t>
            </a:r>
            <a:r>
              <a:rPr lang="en-US" sz="2400" dirty="0"/>
              <a:t> </a:t>
            </a:r>
            <a:r>
              <a:rPr lang="en-US" sz="2400" dirty="0" err="1"/>
              <a:t>phản</a:t>
            </a:r>
            <a:r>
              <a:rPr lang="en-US" sz="2400" dirty="0"/>
              <a:t> </a:t>
            </a:r>
            <a:r>
              <a:rPr lang="en-US" sz="2400" dirty="0" err="1"/>
              <a:t>ánh</a:t>
            </a:r>
            <a:r>
              <a:rPr lang="en-US" sz="2400" dirty="0"/>
              <a:t> </a:t>
            </a:r>
            <a:r>
              <a:rPr lang="en-US" sz="2400" dirty="0" err="1"/>
              <a:t>đúng</a:t>
            </a:r>
            <a:r>
              <a:rPr lang="en-US" sz="2400" dirty="0"/>
              <a:t> </a:t>
            </a:r>
            <a:r>
              <a:rPr lang="en-US" sz="2400" dirty="0" err="1"/>
              <a:t>bản</a:t>
            </a:r>
            <a:r>
              <a:rPr lang="en-US" sz="2400" dirty="0"/>
              <a:t> </a:t>
            </a:r>
            <a:r>
              <a:rPr lang="en-US" sz="2400" dirty="0" err="1"/>
              <a:t>chất</a:t>
            </a:r>
            <a:r>
              <a:rPr lang="en-US" sz="2400" dirty="0"/>
              <a:t> </a:t>
            </a:r>
            <a:r>
              <a:rPr lang="en-US" sz="2400" dirty="0" err="1"/>
              <a:t>nhất</a:t>
            </a:r>
            <a:r>
              <a:rPr lang="en-US" sz="2400" dirty="0"/>
              <a:t> </a:t>
            </a:r>
            <a:r>
              <a:rPr lang="en-US" sz="2400" dirty="0" err="1"/>
              <a:t>dưới</a:t>
            </a:r>
            <a:r>
              <a:rPr lang="en-US" sz="2400" dirty="0"/>
              <a:t> </a:t>
            </a:r>
            <a:r>
              <a:rPr lang="en-US" sz="2400" dirty="0" err="1"/>
              <a:t>góc</a:t>
            </a:r>
            <a:r>
              <a:rPr lang="en-US" sz="2400" dirty="0"/>
              <a:t> </a:t>
            </a:r>
            <a:r>
              <a:rPr lang="en-US" sz="2400" dirty="0" err="1"/>
              <a:t>nhìn</a:t>
            </a:r>
            <a:r>
              <a:rPr lang="en-US" sz="2400" dirty="0"/>
              <a:t> </a:t>
            </a:r>
            <a:r>
              <a:rPr lang="en-US" sz="2400" dirty="0" err="1"/>
              <a:t>toán</a:t>
            </a:r>
            <a:r>
              <a:rPr lang="en-US" sz="2400" dirty="0"/>
              <a:t> </a:t>
            </a:r>
            <a:r>
              <a:rPr lang="en-US" sz="2400" dirty="0" err="1"/>
              <a:t>học</a:t>
            </a:r>
            <a:r>
              <a:rPr lang="en-US" sz="2400" dirty="0"/>
              <a:t>.</a:t>
            </a:r>
            <a:endParaRPr lang="en-US" sz="2300" dirty="0"/>
          </a:p>
          <a:p>
            <a:r>
              <a:rPr lang="en-US" sz="2300" dirty="0"/>
              <a:t>Thuật </a:t>
            </a:r>
            <a:r>
              <a:rPr lang="en-US" sz="2300" dirty="0" err="1"/>
              <a:t>toán</a:t>
            </a:r>
            <a:r>
              <a:rPr lang="en-US" sz="2300" dirty="0"/>
              <a:t>: </a:t>
            </a:r>
            <a:r>
              <a:rPr lang="en-US" sz="2300" dirty="0" err="1"/>
              <a:t>Chạy</a:t>
            </a:r>
            <a:r>
              <a:rPr lang="en-US" sz="2300" dirty="0"/>
              <a:t> </a:t>
            </a:r>
            <a:r>
              <a:rPr lang="en-US" sz="2300" dirty="0" err="1"/>
              <a:t>một</a:t>
            </a:r>
            <a:r>
              <a:rPr lang="en-US" sz="2300" dirty="0"/>
              <a:t> </a:t>
            </a:r>
            <a:r>
              <a:rPr lang="en-US" sz="2300" dirty="0" err="1"/>
              <a:t>vòng</a:t>
            </a:r>
            <a:r>
              <a:rPr lang="en-US" sz="2300" dirty="0"/>
              <a:t> </a:t>
            </a:r>
            <a:r>
              <a:rPr lang="en-US" sz="2300" dirty="0" err="1"/>
              <a:t>lặp</a:t>
            </a:r>
            <a:r>
              <a:rPr lang="en-US" sz="2300" dirty="0"/>
              <a:t> </a:t>
            </a:r>
            <a:r>
              <a:rPr lang="en-US" sz="2300" dirty="0" err="1"/>
              <a:t>thử</a:t>
            </a:r>
            <a:r>
              <a:rPr lang="en-US" sz="2300" dirty="0"/>
              <a:t> </a:t>
            </a:r>
            <a:r>
              <a:rPr lang="en-US" sz="2300" dirty="0" err="1"/>
              <a:t>nghiệm</a:t>
            </a:r>
            <a:r>
              <a:rPr lang="en-US" sz="2300" dirty="0"/>
              <a:t> thuật </a:t>
            </a:r>
            <a:r>
              <a:rPr lang="en-US" sz="2300" dirty="0" err="1"/>
              <a:t>toán</a:t>
            </a:r>
            <a:r>
              <a:rPr lang="en-US" sz="2300" dirty="0"/>
              <a:t> K-Means </a:t>
            </a:r>
            <a:r>
              <a:rPr lang="en-US" sz="2300" dirty="0" err="1"/>
              <a:t>với</a:t>
            </a:r>
            <a:r>
              <a:rPr lang="en-US" sz="2300" dirty="0"/>
              <a:t> </a:t>
            </a:r>
            <a:r>
              <a:rPr lang="en-US" sz="2300" dirty="0" err="1"/>
              <a:t>số</a:t>
            </a:r>
            <a:r>
              <a:rPr lang="en-US" sz="2300" dirty="0"/>
              <a:t> </a:t>
            </a:r>
            <a:r>
              <a:rPr lang="en-US" sz="2300" dirty="0" err="1"/>
              <a:t>cụm</a:t>
            </a:r>
            <a:r>
              <a:rPr lang="en-US" sz="2300" dirty="0"/>
              <a:t> K </a:t>
            </a:r>
            <a:r>
              <a:rPr lang="en-US" sz="2300" dirty="0" err="1"/>
              <a:t>tăng</a:t>
            </a:r>
            <a:r>
              <a:rPr lang="en-US" sz="2300" dirty="0"/>
              <a:t> </a:t>
            </a:r>
            <a:r>
              <a:rPr lang="en-US" sz="2300" dirty="0" err="1"/>
              <a:t>dần</a:t>
            </a:r>
            <a:r>
              <a:rPr lang="en-US" sz="2300" dirty="0"/>
              <a:t> </a:t>
            </a:r>
            <a:r>
              <a:rPr lang="en-US" sz="2300" dirty="0" err="1"/>
              <a:t>từ</a:t>
            </a:r>
            <a:r>
              <a:rPr lang="en-US" sz="2300" dirty="0"/>
              <a:t> 1 </a:t>
            </a:r>
            <a:r>
              <a:rPr lang="en-US" sz="2300" dirty="0" err="1"/>
              <a:t>đến</a:t>
            </a:r>
            <a:r>
              <a:rPr lang="en-US" sz="2300" dirty="0"/>
              <a:t> 9.</a:t>
            </a:r>
          </a:p>
          <a:p>
            <a:r>
              <a:rPr lang="vi-VN" sz="2300" dirty="0"/>
              <a:t>Với mỗi K, mô hình tính toán chỉ số Inertia (Tổng bình phương khoảng cách từ mỗi sinh viên đến tâm cụm của họ), từ đó xác định số lượng cụm tối ưu.</a:t>
            </a:r>
            <a:endParaRPr lang="en-US" sz="2300" dirty="0"/>
          </a:p>
          <a:p>
            <a:endParaRPr lang="en-US" sz="2300" dirty="0"/>
          </a:p>
        </p:txBody>
      </p:sp>
      <p:sp>
        <p:nvSpPr>
          <p:cNvPr id="11" name="Rectangle 10">
            <a:extLst>
              <a:ext uri="{FF2B5EF4-FFF2-40B4-BE49-F238E27FC236}">
                <a16:creationId xmlns:a16="http://schemas.microsoft.com/office/drawing/2014/main" id="{0583CF36-7E2D-7995-82F3-DA9070F1B429}"/>
              </a:ext>
            </a:extLst>
          </p:cNvPr>
          <p:cNvSpPr/>
          <p:nvPr/>
        </p:nvSpPr>
        <p:spPr>
          <a:xfrm>
            <a:off x="-1" y="0"/>
            <a:ext cx="12192001" cy="471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CFB174D-E983-5849-1E3C-5E4DB24CD819}"/>
              </a:ext>
            </a:extLst>
          </p:cNvPr>
          <p:cNvPicPr>
            <a:picLocks noChangeAspect="1"/>
          </p:cNvPicPr>
          <p:nvPr/>
        </p:nvPicPr>
        <p:blipFill>
          <a:blip r:embed="rId3"/>
          <a:srcRect b="23731"/>
          <a:stretch>
            <a:fillRect/>
          </a:stretch>
        </p:blipFill>
        <p:spPr>
          <a:xfrm>
            <a:off x="7005485" y="471948"/>
            <a:ext cx="5186516" cy="3115322"/>
          </a:xfrm>
          <a:prstGeom prst="rect">
            <a:avLst/>
          </a:prstGeom>
        </p:spPr>
      </p:pic>
      <p:pic>
        <p:nvPicPr>
          <p:cNvPr id="8" name="Picture 7">
            <a:extLst>
              <a:ext uri="{FF2B5EF4-FFF2-40B4-BE49-F238E27FC236}">
                <a16:creationId xmlns:a16="http://schemas.microsoft.com/office/drawing/2014/main" id="{A717F4F7-A74C-8168-1418-F31F75000254}"/>
              </a:ext>
            </a:extLst>
          </p:cNvPr>
          <p:cNvPicPr>
            <a:picLocks noChangeAspect="1"/>
          </p:cNvPicPr>
          <p:nvPr/>
        </p:nvPicPr>
        <p:blipFill>
          <a:blip r:embed="rId4"/>
          <a:srcRect b="3789"/>
          <a:stretch>
            <a:fillRect/>
          </a:stretch>
        </p:blipFill>
        <p:spPr>
          <a:xfrm>
            <a:off x="5370514" y="3576484"/>
            <a:ext cx="6821486" cy="3281516"/>
          </a:xfrm>
          <a:prstGeom prst="rect">
            <a:avLst/>
          </a:prstGeom>
        </p:spPr>
      </p:pic>
    </p:spTree>
    <p:extLst>
      <p:ext uri="{BB962C8B-B14F-4D97-AF65-F5344CB8AC3E}">
        <p14:creationId xmlns:p14="http://schemas.microsoft.com/office/powerpoint/2010/main" val="542838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2FD75-7804-BCAF-4B39-AD159D973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27E5A-4884-3C15-4846-44A82D9F30D4}"/>
              </a:ext>
            </a:extLst>
          </p:cNvPr>
          <p:cNvSpPr>
            <a:spLocks noGrp="1"/>
          </p:cNvSpPr>
          <p:nvPr>
            <p:ph type="title"/>
          </p:nvPr>
        </p:nvSpPr>
        <p:spPr>
          <a:xfrm>
            <a:off x="-1" y="18256"/>
            <a:ext cx="12993329" cy="542184"/>
          </a:xfrm>
        </p:spPr>
        <p:txBody>
          <a:bodyPr>
            <a:normAutofit/>
          </a:bodyPr>
          <a:lstStyle/>
          <a:p>
            <a:r>
              <a:rPr lang="en-US" sz="3000" dirty="0"/>
              <a:t>Cell 5: </a:t>
            </a:r>
            <a:r>
              <a:rPr lang="en-US" sz="3000" dirty="0" err="1"/>
              <a:t>Tính</a:t>
            </a:r>
            <a:r>
              <a:rPr lang="en-US" sz="3000" dirty="0"/>
              <a:t> </a:t>
            </a:r>
            <a:r>
              <a:rPr lang="en-US" sz="3000" dirty="0" err="1"/>
              <a:t>toán</a:t>
            </a:r>
            <a:r>
              <a:rPr lang="en-US" sz="3000" dirty="0"/>
              <a:t> </a:t>
            </a:r>
            <a:r>
              <a:rPr lang="en-US" sz="3000" dirty="0" err="1"/>
              <a:t>phân</a:t>
            </a:r>
            <a:r>
              <a:rPr lang="en-US" sz="3000" dirty="0"/>
              <a:t> </a:t>
            </a:r>
            <a:r>
              <a:rPr lang="en-US" sz="3000" dirty="0" err="1"/>
              <a:t>tích</a:t>
            </a:r>
            <a:r>
              <a:rPr lang="en-US" sz="3000" dirty="0"/>
              <a:t> </a:t>
            </a:r>
            <a:r>
              <a:rPr lang="en-US" sz="3000" dirty="0" err="1"/>
              <a:t>dữ</a:t>
            </a:r>
            <a:r>
              <a:rPr lang="en-US" sz="3000" dirty="0"/>
              <a:t> </a:t>
            </a:r>
            <a:r>
              <a:rPr lang="en-US" sz="3000" dirty="0" err="1"/>
              <a:t>liệu</a:t>
            </a:r>
            <a:r>
              <a:rPr lang="en-US" sz="3000" dirty="0"/>
              <a:t> </a:t>
            </a:r>
            <a:r>
              <a:rPr lang="en-US" sz="3000" dirty="0" err="1"/>
              <a:t>và</a:t>
            </a:r>
            <a:r>
              <a:rPr lang="en-US" sz="3000" dirty="0"/>
              <a:t> </a:t>
            </a:r>
            <a:r>
              <a:rPr lang="en-US" sz="3000" dirty="0" err="1"/>
              <a:t>thực</a:t>
            </a:r>
            <a:r>
              <a:rPr lang="en-US" sz="3000" dirty="0"/>
              <a:t> </a:t>
            </a:r>
            <a:r>
              <a:rPr lang="en-US" sz="3000" dirty="0" err="1"/>
              <a:t>hiện</a:t>
            </a:r>
            <a:r>
              <a:rPr lang="en-US" sz="3000" dirty="0"/>
              <a:t> </a:t>
            </a:r>
            <a:r>
              <a:rPr lang="en-US" sz="3000" dirty="0" err="1"/>
              <a:t>phân</a:t>
            </a:r>
            <a:r>
              <a:rPr lang="en-US" sz="3000" dirty="0"/>
              <a:t> </a:t>
            </a:r>
            <a:r>
              <a:rPr lang="en-US" sz="3000" dirty="0" err="1"/>
              <a:t>cụm</a:t>
            </a:r>
            <a:r>
              <a:rPr lang="en-US" sz="3000" dirty="0"/>
              <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4CF2193-FEA6-FEED-945F-5FE5826BDD49}"/>
                  </a:ext>
                </a:extLst>
              </p:cNvPr>
              <p:cNvSpPr>
                <a:spLocks noGrp="1"/>
              </p:cNvSpPr>
              <p:nvPr>
                <p:ph idx="1"/>
              </p:nvPr>
            </p:nvSpPr>
            <p:spPr>
              <a:xfrm>
                <a:off x="-1" y="578696"/>
                <a:ext cx="7577774" cy="6279304"/>
              </a:xfrm>
            </p:spPr>
            <p:txBody>
              <a:bodyPr>
                <a:normAutofit fontScale="92500" lnSpcReduction="10000"/>
              </a:bodyPr>
              <a:lstStyle/>
              <a:p>
                <a:pPr marL="0" indent="0">
                  <a:buNone/>
                </a:pPr>
                <a:r>
                  <a:rPr lang="en-US" sz="2300" dirty="0"/>
                  <a:t>Cell code 5 </a:t>
                </a:r>
                <a:r>
                  <a:rPr lang="en-US" sz="2300" dirty="0" err="1"/>
                  <a:t>thực</a:t>
                </a:r>
                <a:r>
                  <a:rPr lang="en-US" sz="2300" dirty="0"/>
                  <a:t> </a:t>
                </a:r>
                <a:r>
                  <a:rPr lang="en-US" sz="2300" dirty="0" err="1"/>
                  <a:t>hiện</a:t>
                </a:r>
                <a:r>
                  <a:rPr lang="en-US" sz="2300" dirty="0"/>
                  <a:t> </a:t>
                </a:r>
                <a:r>
                  <a:rPr lang="en-US" sz="2300" dirty="0" err="1"/>
                  <a:t>toàn</a:t>
                </a:r>
                <a:r>
                  <a:rPr lang="en-US" sz="2300" dirty="0"/>
                  <a:t> </a:t>
                </a:r>
                <a:r>
                  <a:rPr lang="en-US" sz="2300" dirty="0" err="1"/>
                  <a:t>bộ</a:t>
                </a:r>
                <a:r>
                  <a:rPr lang="en-US" sz="2300" dirty="0"/>
                  <a:t> </a:t>
                </a:r>
                <a:r>
                  <a:rPr lang="en-US" sz="2300" dirty="0" err="1"/>
                  <a:t>các</a:t>
                </a:r>
                <a:r>
                  <a:rPr lang="en-US" sz="2300" dirty="0"/>
                  <a:t> </a:t>
                </a:r>
                <a:r>
                  <a:rPr lang="en-US" sz="2300" dirty="0" err="1"/>
                  <a:t>phép</a:t>
                </a:r>
                <a:r>
                  <a:rPr lang="en-US" sz="2300" dirty="0"/>
                  <a:t> </a:t>
                </a:r>
                <a:r>
                  <a:rPr lang="en-US" sz="2300" dirty="0" err="1"/>
                  <a:t>toán</a:t>
                </a:r>
                <a:r>
                  <a:rPr lang="en-US" sz="2300" dirty="0"/>
                  <a:t> </a:t>
                </a:r>
                <a:r>
                  <a:rPr lang="en-US" sz="2300" dirty="0" err="1"/>
                  <a:t>thống</a:t>
                </a:r>
                <a:r>
                  <a:rPr lang="en-US" sz="2300" dirty="0"/>
                  <a:t> </a:t>
                </a:r>
                <a:r>
                  <a:rPr lang="en-US" sz="2300" dirty="0" err="1"/>
                  <a:t>kê</a:t>
                </a:r>
                <a:r>
                  <a:rPr lang="en-US" sz="2300" dirty="0"/>
                  <a:t> </a:t>
                </a:r>
                <a:r>
                  <a:rPr lang="en-US" sz="2300" dirty="0" err="1"/>
                  <a:t>nền</a:t>
                </a:r>
                <a:r>
                  <a:rPr lang="en-US" sz="2300" dirty="0"/>
                  <a:t> </a:t>
                </a:r>
                <a:r>
                  <a:rPr lang="en-US" sz="2300" dirty="0" err="1"/>
                  <a:t>tảng</a:t>
                </a:r>
                <a:r>
                  <a:rPr lang="en-US" sz="2300" dirty="0"/>
                  <a:t> </a:t>
                </a:r>
                <a:r>
                  <a:rPr lang="en-US" sz="2300" dirty="0" err="1"/>
                  <a:t>cho</a:t>
                </a:r>
                <a:r>
                  <a:rPr lang="en-US" sz="2300" dirty="0"/>
                  <a:t> </a:t>
                </a:r>
                <a:r>
                  <a:rPr lang="en-US" sz="2300" dirty="0" err="1"/>
                  <a:t>tập</a:t>
                </a:r>
                <a:r>
                  <a:rPr lang="en-US" sz="2300" dirty="0"/>
                  <a:t> </a:t>
                </a:r>
                <a:r>
                  <a:rPr lang="en-US" sz="2300" dirty="0" err="1"/>
                  <a:t>thể</a:t>
                </a:r>
                <a:r>
                  <a:rPr lang="en-US" sz="2300" dirty="0"/>
                  <a:t> </a:t>
                </a:r>
                <a:r>
                  <a:rPr lang="en-US" sz="2300" dirty="0" err="1"/>
                  <a:t>và</a:t>
                </a:r>
                <a:r>
                  <a:rPr lang="en-US" sz="2300" dirty="0"/>
                  <a:t> </a:t>
                </a:r>
                <a:r>
                  <a:rPr lang="en-US" sz="2300" dirty="0" err="1"/>
                  <a:t>riêng</a:t>
                </a:r>
                <a:r>
                  <a:rPr lang="en-US" sz="2300" dirty="0"/>
                  <a:t> 1 </a:t>
                </a:r>
                <a:r>
                  <a:rPr lang="en-US" sz="2300" dirty="0" err="1"/>
                  <a:t>sinh</a:t>
                </a:r>
                <a:r>
                  <a:rPr lang="en-US" sz="2300" dirty="0"/>
                  <a:t> </a:t>
                </a:r>
                <a:r>
                  <a:rPr lang="en-US" sz="2300" dirty="0" err="1"/>
                  <a:t>viên</a:t>
                </a:r>
                <a:r>
                  <a:rPr lang="en-US" sz="2300" dirty="0"/>
                  <a:t> </a:t>
                </a:r>
                <a:r>
                  <a:rPr lang="en-US" sz="2300" dirty="0" err="1"/>
                  <a:t>lựa</a:t>
                </a:r>
                <a:r>
                  <a:rPr lang="en-US" sz="2300" dirty="0"/>
                  <a:t> </a:t>
                </a:r>
                <a:r>
                  <a:rPr lang="en-US" sz="2300" dirty="0" err="1"/>
                  <a:t>chọn</a:t>
                </a:r>
                <a:r>
                  <a:rPr lang="en-US" sz="2300" dirty="0"/>
                  <a:t>.</a:t>
                </a:r>
              </a:p>
              <a:p>
                <a:r>
                  <a:rPr lang="en-US" sz="2300" dirty="0" err="1"/>
                  <a:t>Tính</a:t>
                </a:r>
                <a:r>
                  <a:rPr lang="en-US" sz="2300" dirty="0"/>
                  <a:t> </a:t>
                </a:r>
                <a:r>
                  <a:rPr lang="en-US" sz="2300" dirty="0" err="1"/>
                  <a:t>điểm</a:t>
                </a:r>
                <a:r>
                  <a:rPr lang="en-US" sz="2300" dirty="0"/>
                  <a:t> </a:t>
                </a:r>
                <a:r>
                  <a:rPr lang="en-US" sz="2300" dirty="0" err="1"/>
                  <a:t>trung</a:t>
                </a:r>
                <a:r>
                  <a:rPr lang="en-US" sz="2300" dirty="0"/>
                  <a:t> </a:t>
                </a:r>
                <a:r>
                  <a:rPr lang="en-US" sz="2300" dirty="0" err="1"/>
                  <a:t>bình</a:t>
                </a:r>
                <a:r>
                  <a:rPr lang="en-US" sz="2300" dirty="0"/>
                  <a:t> </a:t>
                </a:r>
                <a:r>
                  <a:rPr lang="en-US" sz="2300" dirty="0" err="1"/>
                  <a:t>tích</a:t>
                </a:r>
                <a:r>
                  <a:rPr lang="en-US" sz="2300" dirty="0"/>
                  <a:t> </a:t>
                </a:r>
                <a:r>
                  <a:rPr lang="en-US" sz="2300" dirty="0" err="1"/>
                  <a:t>lũy</a:t>
                </a:r>
                <a:r>
                  <a:rPr lang="en-US" sz="2300" dirty="0"/>
                  <a:t> </a:t>
                </a:r>
                <a:r>
                  <a:rPr lang="en-US" sz="2300" dirty="0" err="1"/>
                  <a:t>theo</a:t>
                </a:r>
                <a:r>
                  <a:rPr lang="en-US" sz="2300" dirty="0"/>
                  <a:t> </a:t>
                </a:r>
                <a:r>
                  <a:rPr lang="en-US" sz="2300" dirty="0" err="1"/>
                  <a:t>học</a:t>
                </a:r>
                <a:r>
                  <a:rPr lang="en-US" sz="2300" dirty="0"/>
                  <a:t> </a:t>
                </a:r>
                <a:r>
                  <a:rPr lang="en-US" sz="2300" dirty="0" err="1"/>
                  <a:t>kì</a:t>
                </a:r>
                <a:r>
                  <a:rPr lang="en-US" sz="2300" dirty="0"/>
                  <a:t> </a:t>
                </a:r>
                <a:r>
                  <a:rPr lang="en-US" sz="2300" dirty="0" err="1"/>
                  <a:t>và</a:t>
                </a:r>
                <a:r>
                  <a:rPr lang="en-US" sz="2300" dirty="0"/>
                  <a:t> </a:t>
                </a:r>
                <a:r>
                  <a:rPr lang="en-US" sz="2300" dirty="0" err="1"/>
                  <a:t>năm</a:t>
                </a:r>
                <a:r>
                  <a:rPr lang="en-US" sz="2300" dirty="0"/>
                  <a:t>.</a:t>
                </a:r>
              </a:p>
              <a:p>
                <a:r>
                  <a:rPr lang="en-US" sz="2300" dirty="0" err="1"/>
                  <a:t>Tính</a:t>
                </a:r>
                <a:r>
                  <a:rPr lang="en-US" sz="2300" dirty="0"/>
                  <a:t> </a:t>
                </a:r>
                <a:r>
                  <a:rPr lang="vi-VN" sz="2300" dirty="0"/>
                  <a:t>chỉ số phân hóa (Std)</a:t>
                </a:r>
                <a:r>
                  <a:rPr lang="en-US" sz="2300" dirty="0"/>
                  <a:t>: </a:t>
                </a:r>
                <a:r>
                  <a:rPr lang="en-US" sz="2300" dirty="0" err="1"/>
                  <a:t>độ</a:t>
                </a:r>
                <a:r>
                  <a:rPr lang="en-US" sz="2300" dirty="0"/>
                  <a:t> </a:t>
                </a:r>
                <a:r>
                  <a:rPr lang="en-US" sz="2300" dirty="0" err="1"/>
                  <a:t>phân</a:t>
                </a:r>
                <a:r>
                  <a:rPr lang="en-US" sz="2300" dirty="0"/>
                  <a:t> </a:t>
                </a:r>
                <a:r>
                  <a:rPr lang="en-US" sz="2300" dirty="0" err="1"/>
                  <a:t>hóa</a:t>
                </a:r>
                <a:r>
                  <a:rPr lang="en-US" sz="2300" dirty="0"/>
                  <a:t> </a:t>
                </a:r>
                <a:r>
                  <a:rPr lang="en-US" sz="2300" dirty="0" err="1"/>
                  <a:t>điểm</a:t>
                </a:r>
                <a:r>
                  <a:rPr lang="en-US" sz="2300" dirty="0"/>
                  <a:t> </a:t>
                </a:r>
                <a:r>
                  <a:rPr lang="en-US" sz="2300" dirty="0" err="1"/>
                  <a:t>của</a:t>
                </a:r>
                <a:r>
                  <a:rPr lang="en-US" sz="2300" dirty="0"/>
                  <a:t> </a:t>
                </a:r>
                <a:r>
                  <a:rPr lang="en-US" sz="2300" dirty="0" err="1"/>
                  <a:t>lớp</a:t>
                </a:r>
                <a:r>
                  <a:rPr lang="en-US" sz="2300" dirty="0"/>
                  <a:t>; </a:t>
                </a:r>
                <a:r>
                  <a:rPr lang="en-US" sz="2300" dirty="0" err="1"/>
                  <a:t>Tính</a:t>
                </a:r>
                <a:r>
                  <a:rPr lang="en-US" sz="2300" dirty="0"/>
                  <a:t> Z-Score </a:t>
                </a:r>
                <a:r>
                  <a:rPr lang="en-US" sz="2300" dirty="0" err="1"/>
                  <a:t>cho</a:t>
                </a:r>
                <a:r>
                  <a:rPr lang="en-US" sz="2300" dirty="0"/>
                  <a:t> </a:t>
                </a:r>
                <a:r>
                  <a:rPr lang="en-US" sz="2300" dirty="0" err="1"/>
                  <a:t>sinh</a:t>
                </a:r>
                <a:r>
                  <a:rPr lang="en-US" sz="2300" dirty="0"/>
                  <a:t> </a:t>
                </a:r>
                <a:r>
                  <a:rPr lang="en-US" sz="2300" dirty="0" err="1"/>
                  <a:t>viên</a:t>
                </a:r>
                <a:r>
                  <a:rPr lang="en-US" sz="2300" dirty="0"/>
                  <a:t> </a:t>
                </a:r>
                <a:r>
                  <a:rPr lang="en-US" sz="2300" dirty="0" err="1"/>
                  <a:t>lựa</a:t>
                </a:r>
                <a:r>
                  <a:rPr lang="en-US" sz="2300" dirty="0"/>
                  <a:t> </a:t>
                </a:r>
                <a:r>
                  <a:rPr lang="en-US" sz="2300" dirty="0" err="1"/>
                  <a:t>chọn</a:t>
                </a:r>
                <a:r>
                  <a:rPr lang="en-US" sz="2300" dirty="0"/>
                  <a:t> </a:t>
                </a:r>
                <a:r>
                  <a:rPr lang="en-US" sz="2300" dirty="0" err="1"/>
                  <a:t>với</a:t>
                </a:r>
                <a:r>
                  <a:rPr lang="en-US" sz="2300" dirty="0"/>
                  <a:t> </a:t>
                </a:r>
                <a:r>
                  <a:rPr lang="en-US" sz="2300" dirty="0" err="1"/>
                  <a:t>công</a:t>
                </a:r>
                <a:r>
                  <a:rPr lang="en-US" sz="2300" dirty="0"/>
                  <a:t> </a:t>
                </a:r>
                <a:r>
                  <a:rPr lang="en-US" sz="2300" dirty="0" err="1"/>
                  <a:t>thức</a:t>
                </a:r>
                <a:r>
                  <a:rPr lang="en-US" sz="2300" dirty="0"/>
                  <a:t> </a:t>
                </a:r>
                <a14:m>
                  <m:oMath xmlns:m="http://schemas.openxmlformats.org/officeDocument/2006/math">
                    <m:r>
                      <a:rPr lang="en-US" sz="2300" i="1" smtClean="0">
                        <a:latin typeface="Cambria Math" panose="02040503050406030204" pitchFamily="18" charset="0"/>
                      </a:rPr>
                      <m:t>𝑍</m:t>
                    </m:r>
                    <m:r>
                      <a:rPr lang="en-US" sz="2300" i="1" smtClean="0">
                        <a:latin typeface="Cambria Math" panose="02040503050406030204" pitchFamily="18" charset="0"/>
                      </a:rPr>
                      <m:t>=</m:t>
                    </m:r>
                    <m:f>
                      <m:fPr>
                        <m:ctrlPr>
                          <a:rPr lang="en-US" sz="2300" i="1" smtClean="0">
                            <a:latin typeface="Cambria Math" panose="02040503050406030204" pitchFamily="18" charset="0"/>
                          </a:rPr>
                        </m:ctrlPr>
                      </m:fPr>
                      <m:num>
                        <m:r>
                          <a:rPr lang="en-US" sz="2300" i="1" smtClean="0">
                            <a:latin typeface="Cambria Math" panose="02040503050406030204" pitchFamily="18" charset="0"/>
                          </a:rPr>
                          <m:t>𝑋</m:t>
                        </m:r>
                        <m:r>
                          <a:rPr lang="en-US" sz="2300" i="1" smtClean="0">
                            <a:latin typeface="Cambria Math" panose="02040503050406030204" pitchFamily="18" charset="0"/>
                          </a:rPr>
                          <m:t>−</m:t>
                        </m:r>
                        <m:r>
                          <a:rPr lang="en-US" sz="2300" i="1" smtClean="0">
                            <a:latin typeface="Cambria Math" panose="02040503050406030204" pitchFamily="18" charset="0"/>
                          </a:rPr>
                          <m:t>𝜇</m:t>
                        </m:r>
                      </m:num>
                      <m:den>
                        <m:r>
                          <a:rPr lang="en-US" sz="2300" i="1" smtClean="0">
                            <a:latin typeface="Cambria Math" panose="02040503050406030204" pitchFamily="18" charset="0"/>
                          </a:rPr>
                          <m:t>𝜎</m:t>
                        </m:r>
                      </m:den>
                    </m:f>
                  </m:oMath>
                </a14:m>
                <a:r>
                  <a:rPr lang="en-US" sz="2300" dirty="0"/>
                  <a:t>  </a:t>
                </a:r>
                <a:r>
                  <a:rPr lang="en-US" sz="2300" dirty="0" err="1"/>
                  <a:t>để</a:t>
                </a:r>
                <a:r>
                  <a:rPr lang="en-US" sz="2300" dirty="0"/>
                  <a:t> </a:t>
                </a:r>
                <a:r>
                  <a:rPr lang="en-US" sz="2300" dirty="0" err="1"/>
                  <a:t>xác</a:t>
                </a:r>
                <a:r>
                  <a:rPr lang="en-US" sz="2300" dirty="0"/>
                  <a:t> </a:t>
                </a:r>
                <a:r>
                  <a:rPr lang="en-US" sz="2300" dirty="0" err="1"/>
                  <a:t>định</a:t>
                </a:r>
                <a:r>
                  <a:rPr lang="en-US" sz="2300" dirty="0"/>
                  <a:t> </a:t>
                </a:r>
                <a:r>
                  <a:rPr lang="en-US" sz="2300" dirty="0" err="1"/>
                  <a:t>sinh</a:t>
                </a:r>
                <a:r>
                  <a:rPr lang="en-US" sz="2300" dirty="0"/>
                  <a:t> </a:t>
                </a:r>
                <a:r>
                  <a:rPr lang="en-US" sz="2300" dirty="0" err="1"/>
                  <a:t>viên</a:t>
                </a:r>
                <a:r>
                  <a:rPr lang="en-US" sz="2300" dirty="0"/>
                  <a:t> </a:t>
                </a:r>
                <a:r>
                  <a:rPr lang="en-US" sz="2300" dirty="0" err="1"/>
                  <a:t>lựa</a:t>
                </a:r>
                <a:r>
                  <a:rPr lang="en-US" sz="2300" dirty="0"/>
                  <a:t> </a:t>
                </a:r>
                <a:r>
                  <a:rPr lang="en-US" sz="2300" dirty="0" err="1"/>
                  <a:t>chọn</a:t>
                </a:r>
                <a:r>
                  <a:rPr lang="en-US" sz="2300" dirty="0"/>
                  <a:t> </a:t>
                </a:r>
                <a:r>
                  <a:rPr lang="en-US" sz="2300" dirty="0" err="1"/>
                  <a:t>đang</a:t>
                </a:r>
                <a:r>
                  <a:rPr lang="en-US" sz="2300" dirty="0"/>
                  <a:t> </a:t>
                </a:r>
                <a:r>
                  <a:rPr lang="en-US" sz="2300" dirty="0" err="1"/>
                  <a:t>đứng</a:t>
                </a:r>
                <a:r>
                  <a:rPr lang="en-US" sz="2300" dirty="0"/>
                  <a:t> </a:t>
                </a:r>
                <a:r>
                  <a:rPr lang="en-US" sz="2300" dirty="0" err="1"/>
                  <a:t>cách</a:t>
                </a:r>
                <a:r>
                  <a:rPr lang="en-US" sz="2300" dirty="0"/>
                  <a:t> </a:t>
                </a:r>
                <a:r>
                  <a:rPr lang="en-US" sz="2300" dirty="0" err="1"/>
                  <a:t>trung</a:t>
                </a:r>
                <a:r>
                  <a:rPr lang="en-US" sz="2300" dirty="0"/>
                  <a:t> </a:t>
                </a:r>
                <a:r>
                  <a:rPr lang="en-US" sz="2300" dirty="0" err="1"/>
                  <a:t>bình</a:t>
                </a:r>
                <a:r>
                  <a:rPr lang="en-US" sz="2300" dirty="0"/>
                  <a:t> </a:t>
                </a:r>
                <a:r>
                  <a:rPr lang="en-US" sz="2300" dirty="0" err="1"/>
                  <a:t>lớp</a:t>
                </a:r>
                <a:r>
                  <a:rPr lang="en-US" sz="2300" dirty="0"/>
                  <a:t> bao </a:t>
                </a:r>
                <a:r>
                  <a:rPr lang="en-US" sz="2300" dirty="0" err="1"/>
                  <a:t>nhiêu</a:t>
                </a:r>
                <a:r>
                  <a:rPr lang="en-US" sz="2300" dirty="0"/>
                  <a:t> </a:t>
                </a:r>
                <a:r>
                  <a:rPr lang="en-US" sz="2300" dirty="0" err="1"/>
                  <a:t>lần</a:t>
                </a:r>
                <a:r>
                  <a:rPr lang="en-US" sz="2300" dirty="0"/>
                  <a:t> </a:t>
                </a:r>
                <a:r>
                  <a:rPr lang="en-US" sz="2300" dirty="0" err="1"/>
                  <a:t>độ</a:t>
                </a:r>
                <a:r>
                  <a:rPr lang="en-US" sz="2300" dirty="0"/>
                  <a:t> </a:t>
                </a:r>
                <a:r>
                  <a:rPr lang="en-US" sz="2300" dirty="0" err="1"/>
                  <a:t>lệch</a:t>
                </a:r>
                <a:r>
                  <a:rPr lang="en-US" sz="2300" dirty="0"/>
                  <a:t> </a:t>
                </a:r>
                <a:r>
                  <a:rPr lang="en-US" sz="2300" dirty="0" err="1"/>
                  <a:t>chuẩn</a:t>
                </a:r>
                <a:r>
                  <a:rPr lang="en-US" sz="2300" dirty="0"/>
                  <a:t>.</a:t>
                </a:r>
              </a:p>
              <a:p>
                <a:r>
                  <a:rPr lang="vi-VN" sz="2300" dirty="0"/>
                  <a:t>Tính hệ số tương quan giữa các năm học</a:t>
                </a:r>
                <a:endParaRPr lang="en-US" sz="2300" dirty="0"/>
              </a:p>
              <a:p>
                <a:r>
                  <a:rPr lang="vi-VN" sz="2300" dirty="0"/>
                  <a:t>Phân chia cơ cấu hình thái học tập</a:t>
                </a:r>
                <a:r>
                  <a:rPr lang="en-US" sz="2300" dirty="0"/>
                  <a:t> </a:t>
                </a:r>
                <a:r>
                  <a:rPr lang="en-US" sz="2300" dirty="0" err="1"/>
                  <a:t>của</a:t>
                </a:r>
                <a:r>
                  <a:rPr lang="en-US" sz="2300" dirty="0"/>
                  <a:t> </a:t>
                </a:r>
                <a:r>
                  <a:rPr lang="en-US" sz="2300" dirty="0" err="1"/>
                  <a:t>lớp</a:t>
                </a:r>
                <a:r>
                  <a:rPr lang="en-US" sz="2300" dirty="0"/>
                  <a:t> </a:t>
                </a:r>
                <a:r>
                  <a:rPr lang="en-US" sz="2300" dirty="0" err="1"/>
                  <a:t>thành</a:t>
                </a:r>
                <a:r>
                  <a:rPr lang="en-US" sz="2300" dirty="0"/>
                  <a:t> </a:t>
                </a:r>
                <a:r>
                  <a:rPr lang="en-US" sz="2300" dirty="0" err="1"/>
                  <a:t>các</a:t>
                </a:r>
                <a:r>
                  <a:rPr lang="en-US" sz="2300" dirty="0"/>
                  <a:t> </a:t>
                </a:r>
                <a:r>
                  <a:rPr lang="en-US" sz="2300" dirty="0" err="1"/>
                  <a:t>phân</a:t>
                </a:r>
                <a:r>
                  <a:rPr lang="en-US" sz="2300" dirty="0"/>
                  <a:t> </a:t>
                </a:r>
                <a:r>
                  <a:rPr lang="en-US" sz="2300" dirty="0" err="1"/>
                  <a:t>loại</a:t>
                </a:r>
                <a:r>
                  <a:rPr lang="en-US" sz="2300" dirty="0"/>
                  <a:t> (</a:t>
                </a:r>
                <a:r>
                  <a:rPr lang="en-US" sz="2300" dirty="0" err="1"/>
                  <a:t>tiến</a:t>
                </a:r>
                <a:r>
                  <a:rPr lang="en-US" sz="2300" dirty="0"/>
                  <a:t> </a:t>
                </a:r>
                <a:r>
                  <a:rPr lang="en-US" sz="2300" dirty="0" err="1"/>
                  <a:t>bộ</a:t>
                </a:r>
                <a:r>
                  <a:rPr lang="en-US" sz="2300" dirty="0"/>
                  <a:t>, </a:t>
                </a:r>
                <a:r>
                  <a:rPr lang="en-US" sz="2300" dirty="0" err="1"/>
                  <a:t>ổn</a:t>
                </a:r>
                <a:r>
                  <a:rPr lang="en-US" sz="2300" dirty="0"/>
                  <a:t> </a:t>
                </a:r>
                <a:r>
                  <a:rPr lang="en-US" sz="2300" dirty="0" err="1"/>
                  <a:t>định</a:t>
                </a:r>
                <a:r>
                  <a:rPr lang="en-US" sz="2300" dirty="0"/>
                  <a:t>, </a:t>
                </a:r>
                <a:r>
                  <a:rPr lang="en-US" sz="2300" dirty="0" err="1"/>
                  <a:t>không</a:t>
                </a:r>
                <a:r>
                  <a:rPr lang="en-US" sz="2300" dirty="0"/>
                  <a:t> </a:t>
                </a:r>
                <a:r>
                  <a:rPr lang="en-US" sz="2300" dirty="0" err="1"/>
                  <a:t>ổn</a:t>
                </a:r>
                <a:r>
                  <a:rPr lang="en-US" sz="2300" dirty="0"/>
                  <a:t> </a:t>
                </a:r>
                <a:r>
                  <a:rPr lang="en-US" sz="2300" dirty="0" err="1"/>
                  <a:t>định</a:t>
                </a:r>
                <a:r>
                  <a:rPr lang="en-US" sz="2300" dirty="0"/>
                  <a:t>).</a:t>
                </a:r>
              </a:p>
              <a:p>
                <a:r>
                  <a:rPr lang="en-US" sz="2300" dirty="0" err="1"/>
                  <a:t>Tính</a:t>
                </a:r>
                <a:r>
                  <a:rPr lang="en-US" sz="2300" dirty="0"/>
                  <a:t> </a:t>
                </a:r>
                <a:r>
                  <a:rPr lang="vi-VN" sz="2300" dirty="0"/>
                  <a:t>hệ số Tương quan Pearson (r)</a:t>
                </a:r>
                <a:r>
                  <a:rPr lang="en-US" sz="2300" dirty="0"/>
                  <a:t> </a:t>
                </a:r>
                <a:r>
                  <a:rPr lang="en-US" sz="2300" dirty="0" err="1"/>
                  <a:t>giữa</a:t>
                </a:r>
                <a:r>
                  <a:rPr lang="en-US" sz="2300" dirty="0"/>
                  <a:t> </a:t>
                </a:r>
                <a:r>
                  <a:rPr lang="en-US" sz="2300" dirty="0" err="1"/>
                  <a:t>các</a:t>
                </a:r>
                <a:r>
                  <a:rPr lang="en-US" sz="2300" dirty="0"/>
                  <a:t> </a:t>
                </a:r>
                <a:r>
                  <a:rPr lang="en-US" sz="2300" dirty="0" err="1"/>
                  <a:t>năm</a:t>
                </a:r>
                <a:r>
                  <a:rPr lang="en-US" sz="2300" dirty="0"/>
                  <a:t> </a:t>
                </a:r>
                <a:r>
                  <a:rPr lang="en-US" sz="2300" dirty="0" err="1"/>
                  <a:t>học</a:t>
                </a:r>
                <a:r>
                  <a:rPr lang="en-US" sz="2300" dirty="0"/>
                  <a:t> </a:t>
                </a:r>
                <a:r>
                  <a:rPr lang="en-US" sz="2300" dirty="0" err="1"/>
                  <a:t>đại</a:t>
                </a:r>
                <a:r>
                  <a:rPr lang="en-US" sz="2300" dirty="0"/>
                  <a:t> </a:t>
                </a:r>
                <a:r>
                  <a:rPr lang="en-US" sz="2300" dirty="0" err="1"/>
                  <a:t>cương</a:t>
                </a:r>
                <a:r>
                  <a:rPr lang="en-US" sz="2300" dirty="0"/>
                  <a:t> </a:t>
                </a:r>
                <a:r>
                  <a:rPr lang="en-US" sz="2300" dirty="0" err="1"/>
                  <a:t>và</a:t>
                </a:r>
                <a:r>
                  <a:rPr lang="en-US" sz="2300" dirty="0"/>
                  <a:t> </a:t>
                </a:r>
                <a:r>
                  <a:rPr lang="en-US" sz="2300" dirty="0" err="1"/>
                  <a:t>chuyên</a:t>
                </a:r>
                <a:r>
                  <a:rPr lang="en-US" sz="2300" dirty="0"/>
                  <a:t> </a:t>
                </a:r>
                <a:r>
                  <a:rPr lang="en-US" sz="2300" dirty="0" err="1"/>
                  <a:t>ngành</a:t>
                </a:r>
                <a:r>
                  <a:rPr lang="en-US" sz="2300" dirty="0"/>
                  <a:t>.</a:t>
                </a:r>
              </a:p>
              <a:p>
                <a:r>
                  <a:rPr lang="vi-VN" sz="2300" dirty="0"/>
                  <a:t>Dùng thuật toán K-Means phân cụm ma trận chuỗi thời gian 4 năm thành 3 nhóm (Giỏi, Khá, Trung bình/Yếu) dựa trên thuật toán tối ưu hóa khoảng cách Euclidean đa chiều.</a:t>
                </a:r>
                <a:endParaRPr lang="en-US" sz="2300" dirty="0"/>
              </a:p>
              <a:p>
                <a:r>
                  <a:rPr lang="vi-VN" sz="2300" dirty="0"/>
                  <a:t>Sử dụng cặp đặc trưng (Điểm trung bình kỳ, Độ lệch chuẩn kỳ) làm tọa độ đầu vào cho K-Means (K=2) nhằm gom 11 học kỳ thành 2 trạng thái: "Kỳ học Hiệu quả" (điểm cao, ít phân hóa) và "Kỳ học Thách thức" (điểm thấp, phân hóa mạnh).</a:t>
                </a:r>
                <a:endParaRPr lang="en-US" sz="2300" dirty="0"/>
              </a:p>
              <a:p>
                <a:endParaRPr lang="en-US" dirty="0"/>
              </a:p>
              <a:p>
                <a:endParaRPr lang="en-US" sz="2300" dirty="0"/>
              </a:p>
              <a:p>
                <a:endParaRPr lang="en-US" sz="2300" dirty="0"/>
              </a:p>
            </p:txBody>
          </p:sp>
        </mc:Choice>
        <mc:Fallback>
          <p:sp>
            <p:nvSpPr>
              <p:cNvPr id="3" name="Content Placeholder 2">
                <a:extLst>
                  <a:ext uri="{FF2B5EF4-FFF2-40B4-BE49-F238E27FC236}">
                    <a16:creationId xmlns:a16="http://schemas.microsoft.com/office/drawing/2014/main" id="{D4CF2193-FEA6-FEED-945F-5FE5826BDD49}"/>
                  </a:ext>
                </a:extLst>
              </p:cNvPr>
              <p:cNvSpPr>
                <a:spLocks noGrp="1" noRot="1" noChangeAspect="1" noMove="1" noResize="1" noEditPoints="1" noAdjustHandles="1" noChangeArrowheads="1" noChangeShapeType="1" noTextEdit="1"/>
              </p:cNvSpPr>
              <p:nvPr>
                <p:ph idx="1"/>
              </p:nvPr>
            </p:nvSpPr>
            <p:spPr>
              <a:xfrm>
                <a:off x="-1" y="578696"/>
                <a:ext cx="7577774" cy="6279304"/>
              </a:xfrm>
              <a:blipFill>
                <a:blip r:embed="rId3"/>
                <a:stretch>
                  <a:fillRect l="-965" t="-1456" r="-724" b="-680"/>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22A7F83E-B2D0-10A5-B75F-5D09CA88E58A}"/>
              </a:ext>
            </a:extLst>
          </p:cNvPr>
          <p:cNvSpPr/>
          <p:nvPr/>
        </p:nvSpPr>
        <p:spPr>
          <a:xfrm>
            <a:off x="-1" y="0"/>
            <a:ext cx="12192001" cy="471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051BC34-BE97-D8A9-D91B-79857C20E2E8}"/>
              </a:ext>
            </a:extLst>
          </p:cNvPr>
          <p:cNvPicPr>
            <a:picLocks noChangeAspect="1"/>
          </p:cNvPicPr>
          <p:nvPr/>
        </p:nvPicPr>
        <p:blipFill>
          <a:blip r:embed="rId4"/>
          <a:srcRect t="2973" b="12390"/>
          <a:stretch>
            <a:fillRect/>
          </a:stretch>
        </p:blipFill>
        <p:spPr>
          <a:xfrm>
            <a:off x="7577773" y="490204"/>
            <a:ext cx="4614227" cy="3506609"/>
          </a:xfrm>
          <a:prstGeom prst="rect">
            <a:avLst/>
          </a:prstGeom>
        </p:spPr>
      </p:pic>
      <p:pic>
        <p:nvPicPr>
          <p:cNvPr id="9" name="Picture 8">
            <a:extLst>
              <a:ext uri="{FF2B5EF4-FFF2-40B4-BE49-F238E27FC236}">
                <a16:creationId xmlns:a16="http://schemas.microsoft.com/office/drawing/2014/main" id="{82581027-4C0C-952E-B984-501AA435AA6E}"/>
              </a:ext>
            </a:extLst>
          </p:cNvPr>
          <p:cNvPicPr>
            <a:picLocks noChangeAspect="1"/>
          </p:cNvPicPr>
          <p:nvPr/>
        </p:nvPicPr>
        <p:blipFill>
          <a:blip r:embed="rId5"/>
          <a:stretch>
            <a:fillRect/>
          </a:stretch>
        </p:blipFill>
        <p:spPr>
          <a:xfrm>
            <a:off x="7713406" y="4609289"/>
            <a:ext cx="4478594" cy="483750"/>
          </a:xfrm>
          <a:prstGeom prst="rect">
            <a:avLst/>
          </a:prstGeom>
        </p:spPr>
      </p:pic>
    </p:spTree>
    <p:extLst>
      <p:ext uri="{BB962C8B-B14F-4D97-AF65-F5344CB8AC3E}">
        <p14:creationId xmlns:p14="http://schemas.microsoft.com/office/powerpoint/2010/main" val="3063653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07DD5-7953-C6E6-7069-3DE654114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4DA4E-9A4B-C275-A859-8A249BA32DC6}"/>
              </a:ext>
            </a:extLst>
          </p:cNvPr>
          <p:cNvSpPr>
            <a:spLocks noGrp="1"/>
          </p:cNvSpPr>
          <p:nvPr>
            <p:ph type="title"/>
          </p:nvPr>
        </p:nvSpPr>
        <p:spPr>
          <a:xfrm>
            <a:off x="-1" y="18256"/>
            <a:ext cx="12993329" cy="542184"/>
          </a:xfrm>
        </p:spPr>
        <p:txBody>
          <a:bodyPr>
            <a:normAutofit/>
          </a:bodyPr>
          <a:lstStyle/>
          <a:p>
            <a:r>
              <a:rPr lang="en-US" sz="3000" dirty="0"/>
              <a:t>Cell 6: </a:t>
            </a:r>
            <a:r>
              <a:rPr lang="en-US" sz="3000" dirty="0" err="1"/>
              <a:t>Trực</a:t>
            </a:r>
            <a:r>
              <a:rPr lang="en-US" sz="3000" dirty="0"/>
              <a:t> </a:t>
            </a:r>
            <a:r>
              <a:rPr lang="en-US" sz="3000" dirty="0" err="1"/>
              <a:t>quan</a:t>
            </a:r>
            <a:r>
              <a:rPr lang="en-US" sz="3000" dirty="0"/>
              <a:t> </a:t>
            </a:r>
            <a:r>
              <a:rPr lang="en-US" sz="3000" dirty="0" err="1"/>
              <a:t>hóa</a:t>
            </a:r>
            <a:r>
              <a:rPr lang="en-US" sz="3000" dirty="0"/>
              <a:t> </a:t>
            </a:r>
            <a:r>
              <a:rPr lang="en-US" sz="3000" dirty="0" err="1"/>
              <a:t>dữ</a:t>
            </a:r>
            <a:r>
              <a:rPr lang="en-US" sz="3000" dirty="0"/>
              <a:t> </a:t>
            </a:r>
            <a:r>
              <a:rPr lang="en-US" sz="3000" dirty="0" err="1"/>
              <a:t>liệu</a:t>
            </a:r>
            <a:endParaRPr lang="en-US" sz="3000" dirty="0"/>
          </a:p>
        </p:txBody>
      </p:sp>
      <p:sp>
        <p:nvSpPr>
          <p:cNvPr id="3" name="Content Placeholder 2">
            <a:extLst>
              <a:ext uri="{FF2B5EF4-FFF2-40B4-BE49-F238E27FC236}">
                <a16:creationId xmlns:a16="http://schemas.microsoft.com/office/drawing/2014/main" id="{DF80605D-64DE-730D-B8ED-E5A08904AB95}"/>
              </a:ext>
            </a:extLst>
          </p:cNvPr>
          <p:cNvSpPr>
            <a:spLocks noGrp="1"/>
          </p:cNvSpPr>
          <p:nvPr>
            <p:ph idx="1"/>
          </p:nvPr>
        </p:nvSpPr>
        <p:spPr>
          <a:xfrm>
            <a:off x="-1" y="560440"/>
            <a:ext cx="9394724" cy="869944"/>
          </a:xfrm>
        </p:spPr>
        <p:txBody>
          <a:bodyPr>
            <a:normAutofit/>
          </a:bodyPr>
          <a:lstStyle/>
          <a:p>
            <a:pPr marL="0" indent="0">
              <a:buNone/>
            </a:pPr>
            <a:r>
              <a:rPr lang="en-US" sz="2300" dirty="0"/>
              <a:t>Cell code 6 </a:t>
            </a:r>
            <a:r>
              <a:rPr lang="en-US" sz="2300" dirty="0" err="1"/>
              <a:t>biểu</a:t>
            </a:r>
            <a:r>
              <a:rPr lang="en-US" sz="2300" dirty="0"/>
              <a:t> </a:t>
            </a:r>
            <a:r>
              <a:rPr lang="en-US" sz="2300" dirty="0" err="1"/>
              <a:t>diễn</a:t>
            </a:r>
            <a:r>
              <a:rPr lang="en-US" sz="2300" dirty="0"/>
              <a:t> </a:t>
            </a:r>
            <a:r>
              <a:rPr lang="en-US" sz="2300" dirty="0" err="1"/>
              <a:t>trực</a:t>
            </a:r>
            <a:r>
              <a:rPr lang="en-US" sz="2300" dirty="0"/>
              <a:t> </a:t>
            </a:r>
            <a:r>
              <a:rPr lang="en-US" sz="2300" dirty="0" err="1"/>
              <a:t>quan</a:t>
            </a:r>
            <a:r>
              <a:rPr lang="en-US" sz="2300" dirty="0"/>
              <a:t> </a:t>
            </a:r>
            <a:r>
              <a:rPr lang="en-US" sz="2300" dirty="0" err="1"/>
              <a:t>các</a:t>
            </a:r>
            <a:r>
              <a:rPr lang="en-US" sz="2300" dirty="0"/>
              <a:t> </a:t>
            </a:r>
            <a:r>
              <a:rPr lang="en-US" sz="2300" dirty="0" err="1"/>
              <a:t>dữ</a:t>
            </a:r>
            <a:r>
              <a:rPr lang="en-US" sz="2300" dirty="0"/>
              <a:t> </a:t>
            </a:r>
            <a:r>
              <a:rPr lang="en-US" sz="2300" dirty="0" err="1"/>
              <a:t>liệu</a:t>
            </a:r>
            <a:r>
              <a:rPr lang="en-US" sz="2300" dirty="0"/>
              <a:t> </a:t>
            </a:r>
            <a:r>
              <a:rPr lang="en-US" sz="2300" dirty="0" err="1"/>
              <a:t>đã</a:t>
            </a:r>
            <a:r>
              <a:rPr lang="en-US" sz="2300" dirty="0"/>
              <a:t> </a:t>
            </a:r>
            <a:r>
              <a:rPr lang="en-US" sz="2300" dirty="0" err="1"/>
              <a:t>tính</a:t>
            </a:r>
            <a:r>
              <a:rPr lang="en-US" sz="2300" dirty="0"/>
              <a:t> </a:t>
            </a:r>
            <a:r>
              <a:rPr lang="en-US" sz="2300" dirty="0" err="1"/>
              <a:t>toán</a:t>
            </a:r>
            <a:r>
              <a:rPr lang="en-US" sz="2300" dirty="0"/>
              <a:t> ở cell code 5.</a:t>
            </a:r>
          </a:p>
        </p:txBody>
      </p:sp>
      <p:sp>
        <p:nvSpPr>
          <p:cNvPr id="11" name="Rectangle 10">
            <a:extLst>
              <a:ext uri="{FF2B5EF4-FFF2-40B4-BE49-F238E27FC236}">
                <a16:creationId xmlns:a16="http://schemas.microsoft.com/office/drawing/2014/main" id="{222414C6-CB79-2D11-219D-30E8EC021EC0}"/>
              </a:ext>
            </a:extLst>
          </p:cNvPr>
          <p:cNvSpPr/>
          <p:nvPr/>
        </p:nvSpPr>
        <p:spPr>
          <a:xfrm>
            <a:off x="-1" y="0"/>
            <a:ext cx="12192001" cy="471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0010571-0B2C-9352-9997-DF43F430E549}"/>
              </a:ext>
            </a:extLst>
          </p:cNvPr>
          <p:cNvPicPr>
            <a:picLocks noChangeAspect="1"/>
          </p:cNvPicPr>
          <p:nvPr/>
        </p:nvPicPr>
        <p:blipFill>
          <a:blip r:embed="rId3"/>
          <a:stretch>
            <a:fillRect/>
          </a:stretch>
        </p:blipFill>
        <p:spPr>
          <a:xfrm>
            <a:off x="0" y="995412"/>
            <a:ext cx="5468113" cy="2676899"/>
          </a:xfrm>
          <a:prstGeom prst="rect">
            <a:avLst/>
          </a:prstGeom>
        </p:spPr>
      </p:pic>
      <p:pic>
        <p:nvPicPr>
          <p:cNvPr id="8" name="Picture 7">
            <a:extLst>
              <a:ext uri="{FF2B5EF4-FFF2-40B4-BE49-F238E27FC236}">
                <a16:creationId xmlns:a16="http://schemas.microsoft.com/office/drawing/2014/main" id="{5798B141-60F8-74C1-3159-0CE6AA839DC9}"/>
              </a:ext>
            </a:extLst>
          </p:cNvPr>
          <p:cNvPicPr>
            <a:picLocks noChangeAspect="1"/>
          </p:cNvPicPr>
          <p:nvPr/>
        </p:nvPicPr>
        <p:blipFill>
          <a:blip r:embed="rId4"/>
          <a:stretch>
            <a:fillRect/>
          </a:stretch>
        </p:blipFill>
        <p:spPr>
          <a:xfrm>
            <a:off x="1" y="3633270"/>
            <a:ext cx="8008374" cy="3242986"/>
          </a:xfrm>
          <a:prstGeom prst="rect">
            <a:avLst/>
          </a:prstGeom>
        </p:spPr>
      </p:pic>
    </p:spTree>
    <p:extLst>
      <p:ext uri="{BB962C8B-B14F-4D97-AF65-F5344CB8AC3E}">
        <p14:creationId xmlns:p14="http://schemas.microsoft.com/office/powerpoint/2010/main" val="2867317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316F3-1B0A-5686-DC0F-5FFFDFA51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FB828-5482-D8A6-0F47-DF7D3C61FC7D}"/>
              </a:ext>
            </a:extLst>
          </p:cNvPr>
          <p:cNvSpPr>
            <a:spLocks noGrp="1"/>
          </p:cNvSpPr>
          <p:nvPr>
            <p:ph type="title"/>
          </p:nvPr>
        </p:nvSpPr>
        <p:spPr>
          <a:xfrm>
            <a:off x="-1" y="18256"/>
            <a:ext cx="12993329" cy="542184"/>
          </a:xfrm>
        </p:spPr>
        <p:txBody>
          <a:bodyPr>
            <a:normAutofit/>
          </a:bodyPr>
          <a:lstStyle/>
          <a:p>
            <a:r>
              <a:rPr lang="en-US" sz="3000" dirty="0"/>
              <a:t>Cell 6: </a:t>
            </a:r>
            <a:r>
              <a:rPr lang="en-US" sz="3000" dirty="0" err="1"/>
              <a:t>Trực</a:t>
            </a:r>
            <a:r>
              <a:rPr lang="en-US" sz="3000" dirty="0"/>
              <a:t> </a:t>
            </a:r>
            <a:r>
              <a:rPr lang="en-US" sz="3000" dirty="0" err="1"/>
              <a:t>quan</a:t>
            </a:r>
            <a:r>
              <a:rPr lang="en-US" sz="3000" dirty="0"/>
              <a:t> </a:t>
            </a:r>
            <a:r>
              <a:rPr lang="en-US" sz="3000" dirty="0" err="1"/>
              <a:t>hóa</a:t>
            </a:r>
            <a:r>
              <a:rPr lang="en-US" sz="3000" dirty="0"/>
              <a:t> </a:t>
            </a:r>
            <a:r>
              <a:rPr lang="en-US" sz="3000" dirty="0" err="1"/>
              <a:t>dữ</a:t>
            </a:r>
            <a:r>
              <a:rPr lang="en-US" sz="3000" dirty="0"/>
              <a:t> </a:t>
            </a:r>
            <a:r>
              <a:rPr lang="en-US" sz="3000" dirty="0" err="1"/>
              <a:t>liệu</a:t>
            </a:r>
            <a:endParaRPr lang="en-US" sz="3000" dirty="0"/>
          </a:p>
        </p:txBody>
      </p:sp>
      <p:sp>
        <p:nvSpPr>
          <p:cNvPr id="3" name="Content Placeholder 2">
            <a:extLst>
              <a:ext uri="{FF2B5EF4-FFF2-40B4-BE49-F238E27FC236}">
                <a16:creationId xmlns:a16="http://schemas.microsoft.com/office/drawing/2014/main" id="{30FC8184-612B-0DD6-7BB4-9BB5AB3B81AA}"/>
              </a:ext>
            </a:extLst>
          </p:cNvPr>
          <p:cNvSpPr>
            <a:spLocks noGrp="1"/>
          </p:cNvSpPr>
          <p:nvPr>
            <p:ph idx="1"/>
          </p:nvPr>
        </p:nvSpPr>
        <p:spPr>
          <a:xfrm>
            <a:off x="-1" y="560440"/>
            <a:ext cx="9394724" cy="869944"/>
          </a:xfrm>
        </p:spPr>
        <p:txBody>
          <a:bodyPr>
            <a:normAutofit/>
          </a:bodyPr>
          <a:lstStyle/>
          <a:p>
            <a:pPr marL="0" indent="0">
              <a:buNone/>
            </a:pPr>
            <a:r>
              <a:rPr lang="en-US" sz="2300" dirty="0"/>
              <a:t>Cell code 6 </a:t>
            </a:r>
            <a:r>
              <a:rPr lang="en-US" sz="2300" dirty="0" err="1"/>
              <a:t>biểu</a:t>
            </a:r>
            <a:r>
              <a:rPr lang="en-US" sz="2300" dirty="0"/>
              <a:t> </a:t>
            </a:r>
            <a:r>
              <a:rPr lang="en-US" sz="2300" dirty="0" err="1"/>
              <a:t>diễn</a:t>
            </a:r>
            <a:r>
              <a:rPr lang="en-US" sz="2300" dirty="0"/>
              <a:t> </a:t>
            </a:r>
            <a:r>
              <a:rPr lang="en-US" sz="2300" dirty="0" err="1"/>
              <a:t>trực</a:t>
            </a:r>
            <a:r>
              <a:rPr lang="en-US" sz="2300" dirty="0"/>
              <a:t> </a:t>
            </a:r>
            <a:r>
              <a:rPr lang="en-US" sz="2300" dirty="0" err="1"/>
              <a:t>quan</a:t>
            </a:r>
            <a:r>
              <a:rPr lang="en-US" sz="2300" dirty="0"/>
              <a:t> </a:t>
            </a:r>
            <a:r>
              <a:rPr lang="en-US" sz="2300" dirty="0" err="1"/>
              <a:t>các</a:t>
            </a:r>
            <a:r>
              <a:rPr lang="en-US" sz="2300" dirty="0"/>
              <a:t> </a:t>
            </a:r>
            <a:r>
              <a:rPr lang="en-US" sz="2300" dirty="0" err="1"/>
              <a:t>dữ</a:t>
            </a:r>
            <a:r>
              <a:rPr lang="en-US" sz="2300" dirty="0"/>
              <a:t> </a:t>
            </a:r>
            <a:r>
              <a:rPr lang="en-US" sz="2300" dirty="0" err="1"/>
              <a:t>liệu</a:t>
            </a:r>
            <a:r>
              <a:rPr lang="en-US" sz="2300" dirty="0"/>
              <a:t> </a:t>
            </a:r>
            <a:r>
              <a:rPr lang="en-US" sz="2300" dirty="0" err="1"/>
              <a:t>đã</a:t>
            </a:r>
            <a:r>
              <a:rPr lang="en-US" sz="2300" dirty="0"/>
              <a:t> </a:t>
            </a:r>
            <a:r>
              <a:rPr lang="en-US" sz="2300" dirty="0" err="1"/>
              <a:t>tính</a:t>
            </a:r>
            <a:r>
              <a:rPr lang="en-US" sz="2300" dirty="0"/>
              <a:t> </a:t>
            </a:r>
            <a:r>
              <a:rPr lang="en-US" sz="2300" dirty="0" err="1"/>
              <a:t>toán</a:t>
            </a:r>
            <a:r>
              <a:rPr lang="en-US" sz="2300" dirty="0"/>
              <a:t> ở cell code 5.</a:t>
            </a:r>
          </a:p>
        </p:txBody>
      </p:sp>
      <p:sp>
        <p:nvSpPr>
          <p:cNvPr id="11" name="Rectangle 10">
            <a:extLst>
              <a:ext uri="{FF2B5EF4-FFF2-40B4-BE49-F238E27FC236}">
                <a16:creationId xmlns:a16="http://schemas.microsoft.com/office/drawing/2014/main" id="{290CC831-4424-FF3F-CEDE-C05B97D8CA9C}"/>
              </a:ext>
            </a:extLst>
          </p:cNvPr>
          <p:cNvSpPr/>
          <p:nvPr/>
        </p:nvSpPr>
        <p:spPr>
          <a:xfrm>
            <a:off x="-1" y="0"/>
            <a:ext cx="12192001" cy="471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8DE3BE8-6044-552A-38F1-05697425A633}"/>
              </a:ext>
            </a:extLst>
          </p:cNvPr>
          <p:cNvPicPr>
            <a:picLocks noChangeAspect="1"/>
          </p:cNvPicPr>
          <p:nvPr/>
        </p:nvPicPr>
        <p:blipFill>
          <a:blip r:embed="rId3"/>
          <a:stretch>
            <a:fillRect/>
          </a:stretch>
        </p:blipFill>
        <p:spPr>
          <a:xfrm>
            <a:off x="1646887" y="1430384"/>
            <a:ext cx="8898224" cy="4394928"/>
          </a:xfrm>
          <a:prstGeom prst="rect">
            <a:avLst/>
          </a:prstGeom>
        </p:spPr>
      </p:pic>
    </p:spTree>
    <p:extLst>
      <p:ext uri="{BB962C8B-B14F-4D97-AF65-F5344CB8AC3E}">
        <p14:creationId xmlns:p14="http://schemas.microsoft.com/office/powerpoint/2010/main" val="4031805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5FC1F-400A-9924-DC2E-6544906DA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9D422-1903-BCDF-3C08-0C7E3BFCB9BE}"/>
              </a:ext>
            </a:extLst>
          </p:cNvPr>
          <p:cNvSpPr>
            <a:spLocks noGrp="1"/>
          </p:cNvSpPr>
          <p:nvPr>
            <p:ph type="title"/>
          </p:nvPr>
        </p:nvSpPr>
        <p:spPr>
          <a:xfrm>
            <a:off x="-1" y="18256"/>
            <a:ext cx="12993329" cy="542184"/>
          </a:xfrm>
        </p:spPr>
        <p:txBody>
          <a:bodyPr>
            <a:normAutofit/>
          </a:bodyPr>
          <a:lstStyle/>
          <a:p>
            <a:r>
              <a:rPr lang="en-US" sz="3000" dirty="0"/>
              <a:t>Cell 6: </a:t>
            </a:r>
            <a:r>
              <a:rPr lang="en-US" sz="3000" dirty="0" err="1"/>
              <a:t>Trực</a:t>
            </a:r>
            <a:r>
              <a:rPr lang="en-US" sz="3000" dirty="0"/>
              <a:t> </a:t>
            </a:r>
            <a:r>
              <a:rPr lang="en-US" sz="3000" dirty="0" err="1"/>
              <a:t>quan</a:t>
            </a:r>
            <a:r>
              <a:rPr lang="en-US" sz="3000" dirty="0"/>
              <a:t> </a:t>
            </a:r>
            <a:r>
              <a:rPr lang="en-US" sz="3000" dirty="0" err="1"/>
              <a:t>hóa</a:t>
            </a:r>
            <a:r>
              <a:rPr lang="en-US" sz="3000" dirty="0"/>
              <a:t> </a:t>
            </a:r>
            <a:r>
              <a:rPr lang="en-US" sz="3000" dirty="0" err="1"/>
              <a:t>dữ</a:t>
            </a:r>
            <a:r>
              <a:rPr lang="en-US" sz="3000" dirty="0"/>
              <a:t> </a:t>
            </a:r>
            <a:r>
              <a:rPr lang="en-US" sz="3000" dirty="0" err="1"/>
              <a:t>liệu</a:t>
            </a:r>
            <a:endParaRPr lang="en-US" sz="3000" dirty="0"/>
          </a:p>
        </p:txBody>
      </p:sp>
      <p:sp>
        <p:nvSpPr>
          <p:cNvPr id="3" name="Content Placeholder 2">
            <a:extLst>
              <a:ext uri="{FF2B5EF4-FFF2-40B4-BE49-F238E27FC236}">
                <a16:creationId xmlns:a16="http://schemas.microsoft.com/office/drawing/2014/main" id="{12F5B0D3-7613-E0D2-E97D-8145325DC5E1}"/>
              </a:ext>
            </a:extLst>
          </p:cNvPr>
          <p:cNvSpPr>
            <a:spLocks noGrp="1"/>
          </p:cNvSpPr>
          <p:nvPr>
            <p:ph idx="1"/>
          </p:nvPr>
        </p:nvSpPr>
        <p:spPr>
          <a:xfrm>
            <a:off x="-1" y="560440"/>
            <a:ext cx="9394724" cy="869944"/>
          </a:xfrm>
        </p:spPr>
        <p:txBody>
          <a:bodyPr>
            <a:normAutofit/>
          </a:bodyPr>
          <a:lstStyle/>
          <a:p>
            <a:pPr marL="0" indent="0">
              <a:buNone/>
            </a:pPr>
            <a:r>
              <a:rPr lang="en-US" sz="2300" dirty="0"/>
              <a:t>Cell code 6 </a:t>
            </a:r>
            <a:r>
              <a:rPr lang="en-US" sz="2300" dirty="0" err="1"/>
              <a:t>biểu</a:t>
            </a:r>
            <a:r>
              <a:rPr lang="en-US" sz="2300" dirty="0"/>
              <a:t> </a:t>
            </a:r>
            <a:r>
              <a:rPr lang="en-US" sz="2300" dirty="0" err="1"/>
              <a:t>diễn</a:t>
            </a:r>
            <a:r>
              <a:rPr lang="en-US" sz="2300" dirty="0"/>
              <a:t> </a:t>
            </a:r>
            <a:r>
              <a:rPr lang="en-US" sz="2300" dirty="0" err="1"/>
              <a:t>trực</a:t>
            </a:r>
            <a:r>
              <a:rPr lang="en-US" sz="2300" dirty="0"/>
              <a:t> </a:t>
            </a:r>
            <a:r>
              <a:rPr lang="en-US" sz="2300" dirty="0" err="1"/>
              <a:t>quan</a:t>
            </a:r>
            <a:r>
              <a:rPr lang="en-US" sz="2300" dirty="0"/>
              <a:t> </a:t>
            </a:r>
            <a:r>
              <a:rPr lang="en-US" sz="2300" dirty="0" err="1"/>
              <a:t>các</a:t>
            </a:r>
            <a:r>
              <a:rPr lang="en-US" sz="2300" dirty="0"/>
              <a:t> </a:t>
            </a:r>
            <a:r>
              <a:rPr lang="en-US" sz="2300" dirty="0" err="1"/>
              <a:t>dữ</a:t>
            </a:r>
            <a:r>
              <a:rPr lang="en-US" sz="2300" dirty="0"/>
              <a:t> </a:t>
            </a:r>
            <a:r>
              <a:rPr lang="en-US" sz="2300" dirty="0" err="1"/>
              <a:t>liệu</a:t>
            </a:r>
            <a:r>
              <a:rPr lang="en-US" sz="2300" dirty="0"/>
              <a:t> </a:t>
            </a:r>
            <a:r>
              <a:rPr lang="en-US" sz="2300" dirty="0" err="1"/>
              <a:t>đã</a:t>
            </a:r>
            <a:r>
              <a:rPr lang="en-US" sz="2300" dirty="0"/>
              <a:t> </a:t>
            </a:r>
            <a:r>
              <a:rPr lang="en-US" sz="2300" dirty="0" err="1"/>
              <a:t>tính</a:t>
            </a:r>
            <a:r>
              <a:rPr lang="en-US" sz="2300" dirty="0"/>
              <a:t> </a:t>
            </a:r>
            <a:r>
              <a:rPr lang="en-US" sz="2300" dirty="0" err="1"/>
              <a:t>toán</a:t>
            </a:r>
            <a:r>
              <a:rPr lang="en-US" sz="2300" dirty="0"/>
              <a:t> ở cell code 5.</a:t>
            </a:r>
          </a:p>
        </p:txBody>
      </p:sp>
      <p:sp>
        <p:nvSpPr>
          <p:cNvPr id="11" name="Rectangle 10">
            <a:extLst>
              <a:ext uri="{FF2B5EF4-FFF2-40B4-BE49-F238E27FC236}">
                <a16:creationId xmlns:a16="http://schemas.microsoft.com/office/drawing/2014/main" id="{0EB3A2FA-56E5-567E-5DDD-0DE25D0C5A94}"/>
              </a:ext>
            </a:extLst>
          </p:cNvPr>
          <p:cNvSpPr/>
          <p:nvPr/>
        </p:nvSpPr>
        <p:spPr>
          <a:xfrm>
            <a:off x="-1" y="0"/>
            <a:ext cx="12192001" cy="471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7C9B0E7-2B49-6949-8257-C2734D60436B}"/>
              </a:ext>
            </a:extLst>
          </p:cNvPr>
          <p:cNvPicPr>
            <a:picLocks noChangeAspect="1"/>
          </p:cNvPicPr>
          <p:nvPr/>
        </p:nvPicPr>
        <p:blipFill>
          <a:blip r:embed="rId3"/>
          <a:stretch>
            <a:fillRect/>
          </a:stretch>
        </p:blipFill>
        <p:spPr>
          <a:xfrm>
            <a:off x="5935590" y="1430384"/>
            <a:ext cx="6241122" cy="3790545"/>
          </a:xfrm>
          <a:prstGeom prst="rect">
            <a:avLst/>
          </a:prstGeom>
        </p:spPr>
      </p:pic>
      <p:pic>
        <p:nvPicPr>
          <p:cNvPr id="9" name="Picture 8">
            <a:extLst>
              <a:ext uri="{FF2B5EF4-FFF2-40B4-BE49-F238E27FC236}">
                <a16:creationId xmlns:a16="http://schemas.microsoft.com/office/drawing/2014/main" id="{AB7AE434-2BC0-4471-478B-670BD99BD64C}"/>
              </a:ext>
            </a:extLst>
          </p:cNvPr>
          <p:cNvPicPr>
            <a:picLocks noChangeAspect="1"/>
          </p:cNvPicPr>
          <p:nvPr/>
        </p:nvPicPr>
        <p:blipFill>
          <a:blip r:embed="rId4"/>
          <a:stretch>
            <a:fillRect/>
          </a:stretch>
        </p:blipFill>
        <p:spPr>
          <a:xfrm>
            <a:off x="0" y="1316950"/>
            <a:ext cx="5935590" cy="4224097"/>
          </a:xfrm>
          <a:prstGeom prst="rect">
            <a:avLst/>
          </a:prstGeom>
        </p:spPr>
      </p:pic>
    </p:spTree>
    <p:extLst>
      <p:ext uri="{BB962C8B-B14F-4D97-AF65-F5344CB8AC3E}">
        <p14:creationId xmlns:p14="http://schemas.microsoft.com/office/powerpoint/2010/main" val="558005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E3647-22B6-F962-DCC3-5D57BE7F9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5711D-2423-EE90-F09D-1131971EABD8}"/>
              </a:ext>
            </a:extLst>
          </p:cNvPr>
          <p:cNvSpPr>
            <a:spLocks noGrp="1"/>
          </p:cNvSpPr>
          <p:nvPr>
            <p:ph type="title"/>
          </p:nvPr>
        </p:nvSpPr>
        <p:spPr>
          <a:xfrm>
            <a:off x="-1" y="18256"/>
            <a:ext cx="12993329" cy="542184"/>
          </a:xfrm>
        </p:spPr>
        <p:txBody>
          <a:bodyPr>
            <a:normAutofit/>
          </a:bodyPr>
          <a:lstStyle/>
          <a:p>
            <a:r>
              <a:rPr lang="en-US" sz="3000" dirty="0"/>
              <a:t>Cell 6: </a:t>
            </a:r>
            <a:r>
              <a:rPr lang="en-US" sz="3000" dirty="0" err="1"/>
              <a:t>Trực</a:t>
            </a:r>
            <a:r>
              <a:rPr lang="en-US" sz="3000" dirty="0"/>
              <a:t> </a:t>
            </a:r>
            <a:r>
              <a:rPr lang="en-US" sz="3000" dirty="0" err="1"/>
              <a:t>quan</a:t>
            </a:r>
            <a:r>
              <a:rPr lang="en-US" sz="3000" dirty="0"/>
              <a:t> </a:t>
            </a:r>
            <a:r>
              <a:rPr lang="en-US" sz="3000" dirty="0" err="1"/>
              <a:t>hóa</a:t>
            </a:r>
            <a:r>
              <a:rPr lang="en-US" sz="3000" dirty="0"/>
              <a:t> </a:t>
            </a:r>
            <a:r>
              <a:rPr lang="en-US" sz="3000" dirty="0" err="1"/>
              <a:t>dữ</a:t>
            </a:r>
            <a:r>
              <a:rPr lang="en-US" sz="3000" dirty="0"/>
              <a:t> </a:t>
            </a:r>
            <a:r>
              <a:rPr lang="en-US" sz="3000" dirty="0" err="1"/>
              <a:t>liệu</a:t>
            </a:r>
            <a:endParaRPr lang="en-US" sz="3000" dirty="0"/>
          </a:p>
        </p:txBody>
      </p:sp>
      <p:sp>
        <p:nvSpPr>
          <p:cNvPr id="3" name="Content Placeholder 2">
            <a:extLst>
              <a:ext uri="{FF2B5EF4-FFF2-40B4-BE49-F238E27FC236}">
                <a16:creationId xmlns:a16="http://schemas.microsoft.com/office/drawing/2014/main" id="{F0075B2A-2698-5909-4F8C-F3162C65A219}"/>
              </a:ext>
            </a:extLst>
          </p:cNvPr>
          <p:cNvSpPr>
            <a:spLocks noGrp="1"/>
          </p:cNvSpPr>
          <p:nvPr>
            <p:ph idx="1"/>
          </p:nvPr>
        </p:nvSpPr>
        <p:spPr>
          <a:xfrm>
            <a:off x="-1" y="560440"/>
            <a:ext cx="9394724" cy="869944"/>
          </a:xfrm>
        </p:spPr>
        <p:txBody>
          <a:bodyPr>
            <a:normAutofit/>
          </a:bodyPr>
          <a:lstStyle/>
          <a:p>
            <a:pPr marL="0" indent="0">
              <a:buNone/>
            </a:pPr>
            <a:r>
              <a:rPr lang="en-US" sz="2300" dirty="0"/>
              <a:t>Cell code 6 </a:t>
            </a:r>
            <a:r>
              <a:rPr lang="en-US" sz="2300" dirty="0" err="1"/>
              <a:t>biểu</a:t>
            </a:r>
            <a:r>
              <a:rPr lang="en-US" sz="2300" dirty="0"/>
              <a:t> </a:t>
            </a:r>
            <a:r>
              <a:rPr lang="en-US" sz="2300" dirty="0" err="1"/>
              <a:t>diễn</a:t>
            </a:r>
            <a:r>
              <a:rPr lang="en-US" sz="2300" dirty="0"/>
              <a:t> </a:t>
            </a:r>
            <a:r>
              <a:rPr lang="en-US" sz="2300" dirty="0" err="1"/>
              <a:t>trực</a:t>
            </a:r>
            <a:r>
              <a:rPr lang="en-US" sz="2300" dirty="0"/>
              <a:t> </a:t>
            </a:r>
            <a:r>
              <a:rPr lang="en-US" sz="2300" dirty="0" err="1"/>
              <a:t>quan</a:t>
            </a:r>
            <a:r>
              <a:rPr lang="en-US" sz="2300" dirty="0"/>
              <a:t> </a:t>
            </a:r>
            <a:r>
              <a:rPr lang="en-US" sz="2300" dirty="0" err="1"/>
              <a:t>các</a:t>
            </a:r>
            <a:r>
              <a:rPr lang="en-US" sz="2300" dirty="0"/>
              <a:t> </a:t>
            </a:r>
            <a:r>
              <a:rPr lang="en-US" sz="2300" dirty="0" err="1"/>
              <a:t>dữ</a:t>
            </a:r>
            <a:r>
              <a:rPr lang="en-US" sz="2300" dirty="0"/>
              <a:t> </a:t>
            </a:r>
            <a:r>
              <a:rPr lang="en-US" sz="2300" dirty="0" err="1"/>
              <a:t>liệu</a:t>
            </a:r>
            <a:r>
              <a:rPr lang="en-US" sz="2300" dirty="0"/>
              <a:t> </a:t>
            </a:r>
            <a:r>
              <a:rPr lang="en-US" sz="2300" dirty="0" err="1"/>
              <a:t>đã</a:t>
            </a:r>
            <a:r>
              <a:rPr lang="en-US" sz="2300" dirty="0"/>
              <a:t> </a:t>
            </a:r>
            <a:r>
              <a:rPr lang="en-US" sz="2300" dirty="0" err="1"/>
              <a:t>tính</a:t>
            </a:r>
            <a:r>
              <a:rPr lang="en-US" sz="2300" dirty="0"/>
              <a:t> </a:t>
            </a:r>
            <a:r>
              <a:rPr lang="en-US" sz="2300" dirty="0" err="1"/>
              <a:t>toán</a:t>
            </a:r>
            <a:r>
              <a:rPr lang="en-US" sz="2300" dirty="0"/>
              <a:t> ở cell code 5.</a:t>
            </a:r>
          </a:p>
        </p:txBody>
      </p:sp>
      <p:sp>
        <p:nvSpPr>
          <p:cNvPr id="11" name="Rectangle 10">
            <a:extLst>
              <a:ext uri="{FF2B5EF4-FFF2-40B4-BE49-F238E27FC236}">
                <a16:creationId xmlns:a16="http://schemas.microsoft.com/office/drawing/2014/main" id="{8EA5A0D6-F56C-9479-8FD7-E170811D5FA0}"/>
              </a:ext>
            </a:extLst>
          </p:cNvPr>
          <p:cNvSpPr/>
          <p:nvPr/>
        </p:nvSpPr>
        <p:spPr>
          <a:xfrm>
            <a:off x="-1" y="0"/>
            <a:ext cx="12192001" cy="471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66AA79F-9AAE-389B-012B-008E9172CBC5}"/>
              </a:ext>
            </a:extLst>
          </p:cNvPr>
          <p:cNvPicPr>
            <a:picLocks noChangeAspect="1"/>
          </p:cNvPicPr>
          <p:nvPr/>
        </p:nvPicPr>
        <p:blipFill>
          <a:blip r:embed="rId3"/>
          <a:stretch>
            <a:fillRect/>
          </a:stretch>
        </p:blipFill>
        <p:spPr>
          <a:xfrm>
            <a:off x="822215" y="1929805"/>
            <a:ext cx="10547570" cy="3851564"/>
          </a:xfrm>
          <a:prstGeom prst="rect">
            <a:avLst/>
          </a:prstGeom>
        </p:spPr>
      </p:pic>
    </p:spTree>
    <p:extLst>
      <p:ext uri="{BB962C8B-B14F-4D97-AF65-F5344CB8AC3E}">
        <p14:creationId xmlns:p14="http://schemas.microsoft.com/office/powerpoint/2010/main" val="1402706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48804-4FAD-E2E9-5D73-2CEEF80AF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01F7C-AA64-BDF7-4832-99C8BBE58743}"/>
              </a:ext>
            </a:extLst>
          </p:cNvPr>
          <p:cNvSpPr>
            <a:spLocks noGrp="1"/>
          </p:cNvSpPr>
          <p:nvPr>
            <p:ph type="title"/>
          </p:nvPr>
        </p:nvSpPr>
        <p:spPr>
          <a:xfrm>
            <a:off x="-1" y="18256"/>
            <a:ext cx="12993329" cy="542184"/>
          </a:xfrm>
        </p:spPr>
        <p:txBody>
          <a:bodyPr>
            <a:normAutofit/>
          </a:bodyPr>
          <a:lstStyle/>
          <a:p>
            <a:r>
              <a:rPr lang="en-US" sz="3000" dirty="0"/>
              <a:t>Cell 6: </a:t>
            </a:r>
            <a:r>
              <a:rPr lang="en-US" sz="3000" dirty="0" err="1"/>
              <a:t>Trực</a:t>
            </a:r>
            <a:r>
              <a:rPr lang="en-US" sz="3000" dirty="0"/>
              <a:t> </a:t>
            </a:r>
            <a:r>
              <a:rPr lang="en-US" sz="3000" dirty="0" err="1"/>
              <a:t>quan</a:t>
            </a:r>
            <a:r>
              <a:rPr lang="en-US" sz="3000" dirty="0"/>
              <a:t> </a:t>
            </a:r>
            <a:r>
              <a:rPr lang="en-US" sz="3000" dirty="0" err="1"/>
              <a:t>hóa</a:t>
            </a:r>
            <a:r>
              <a:rPr lang="en-US" sz="3000" dirty="0"/>
              <a:t> </a:t>
            </a:r>
            <a:r>
              <a:rPr lang="en-US" sz="3000" dirty="0" err="1"/>
              <a:t>dữ</a:t>
            </a:r>
            <a:r>
              <a:rPr lang="en-US" sz="3000" dirty="0"/>
              <a:t> </a:t>
            </a:r>
            <a:r>
              <a:rPr lang="en-US" sz="3000" dirty="0" err="1"/>
              <a:t>liệu</a:t>
            </a:r>
            <a:endParaRPr lang="en-US" sz="3000" dirty="0"/>
          </a:p>
        </p:txBody>
      </p:sp>
      <p:sp>
        <p:nvSpPr>
          <p:cNvPr id="3" name="Content Placeholder 2">
            <a:extLst>
              <a:ext uri="{FF2B5EF4-FFF2-40B4-BE49-F238E27FC236}">
                <a16:creationId xmlns:a16="http://schemas.microsoft.com/office/drawing/2014/main" id="{CE5EDEA3-FB7A-B613-20E0-A5003015C3A6}"/>
              </a:ext>
            </a:extLst>
          </p:cNvPr>
          <p:cNvSpPr>
            <a:spLocks noGrp="1"/>
          </p:cNvSpPr>
          <p:nvPr>
            <p:ph idx="1"/>
          </p:nvPr>
        </p:nvSpPr>
        <p:spPr>
          <a:xfrm>
            <a:off x="-1" y="560440"/>
            <a:ext cx="9394724" cy="869944"/>
          </a:xfrm>
        </p:spPr>
        <p:txBody>
          <a:bodyPr>
            <a:normAutofit/>
          </a:bodyPr>
          <a:lstStyle/>
          <a:p>
            <a:pPr marL="0" indent="0">
              <a:buNone/>
            </a:pPr>
            <a:r>
              <a:rPr lang="en-US" sz="2300" dirty="0"/>
              <a:t>Cell code 6 </a:t>
            </a:r>
            <a:r>
              <a:rPr lang="en-US" sz="2300" dirty="0" err="1"/>
              <a:t>biểu</a:t>
            </a:r>
            <a:r>
              <a:rPr lang="en-US" sz="2300" dirty="0"/>
              <a:t> </a:t>
            </a:r>
            <a:r>
              <a:rPr lang="en-US" sz="2300" dirty="0" err="1"/>
              <a:t>diễn</a:t>
            </a:r>
            <a:r>
              <a:rPr lang="en-US" sz="2300" dirty="0"/>
              <a:t> </a:t>
            </a:r>
            <a:r>
              <a:rPr lang="en-US" sz="2300" dirty="0" err="1"/>
              <a:t>trực</a:t>
            </a:r>
            <a:r>
              <a:rPr lang="en-US" sz="2300" dirty="0"/>
              <a:t> </a:t>
            </a:r>
            <a:r>
              <a:rPr lang="en-US" sz="2300" dirty="0" err="1"/>
              <a:t>quan</a:t>
            </a:r>
            <a:r>
              <a:rPr lang="en-US" sz="2300" dirty="0"/>
              <a:t> </a:t>
            </a:r>
            <a:r>
              <a:rPr lang="en-US" sz="2300" dirty="0" err="1"/>
              <a:t>các</a:t>
            </a:r>
            <a:r>
              <a:rPr lang="en-US" sz="2300" dirty="0"/>
              <a:t> </a:t>
            </a:r>
            <a:r>
              <a:rPr lang="en-US" sz="2300" dirty="0" err="1"/>
              <a:t>dữ</a:t>
            </a:r>
            <a:r>
              <a:rPr lang="en-US" sz="2300" dirty="0"/>
              <a:t> </a:t>
            </a:r>
            <a:r>
              <a:rPr lang="en-US" sz="2300" dirty="0" err="1"/>
              <a:t>liệu</a:t>
            </a:r>
            <a:r>
              <a:rPr lang="en-US" sz="2300" dirty="0"/>
              <a:t> </a:t>
            </a:r>
            <a:r>
              <a:rPr lang="en-US" sz="2300" dirty="0" err="1"/>
              <a:t>đã</a:t>
            </a:r>
            <a:r>
              <a:rPr lang="en-US" sz="2300" dirty="0"/>
              <a:t> </a:t>
            </a:r>
            <a:r>
              <a:rPr lang="en-US" sz="2300" dirty="0" err="1"/>
              <a:t>tính</a:t>
            </a:r>
            <a:r>
              <a:rPr lang="en-US" sz="2300" dirty="0"/>
              <a:t> </a:t>
            </a:r>
            <a:r>
              <a:rPr lang="en-US" sz="2300" dirty="0" err="1"/>
              <a:t>toán</a:t>
            </a:r>
            <a:r>
              <a:rPr lang="en-US" sz="2300" dirty="0"/>
              <a:t> ở cell code 5.</a:t>
            </a:r>
          </a:p>
        </p:txBody>
      </p:sp>
      <p:sp>
        <p:nvSpPr>
          <p:cNvPr id="11" name="Rectangle 10">
            <a:extLst>
              <a:ext uri="{FF2B5EF4-FFF2-40B4-BE49-F238E27FC236}">
                <a16:creationId xmlns:a16="http://schemas.microsoft.com/office/drawing/2014/main" id="{32DD8E23-C6FA-26E1-5AC3-132B49688E57}"/>
              </a:ext>
            </a:extLst>
          </p:cNvPr>
          <p:cNvSpPr/>
          <p:nvPr/>
        </p:nvSpPr>
        <p:spPr>
          <a:xfrm>
            <a:off x="-1" y="0"/>
            <a:ext cx="12192001" cy="471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E4395B5-5BB8-9C2A-F0C7-FA2BCF32A33D}"/>
              </a:ext>
            </a:extLst>
          </p:cNvPr>
          <p:cNvPicPr>
            <a:picLocks noChangeAspect="1"/>
          </p:cNvPicPr>
          <p:nvPr/>
        </p:nvPicPr>
        <p:blipFill>
          <a:blip r:embed="rId3"/>
          <a:stretch>
            <a:fillRect/>
          </a:stretch>
        </p:blipFill>
        <p:spPr>
          <a:xfrm>
            <a:off x="1340489" y="1518876"/>
            <a:ext cx="9511021" cy="4302885"/>
          </a:xfrm>
          <a:prstGeom prst="rect">
            <a:avLst/>
          </a:prstGeom>
        </p:spPr>
      </p:pic>
    </p:spTree>
    <p:extLst>
      <p:ext uri="{BB962C8B-B14F-4D97-AF65-F5344CB8AC3E}">
        <p14:creationId xmlns:p14="http://schemas.microsoft.com/office/powerpoint/2010/main" val="2466200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AD514-4779-F8E8-1983-039932250AF2}"/>
              </a:ext>
            </a:extLst>
          </p:cNvPr>
          <p:cNvSpPr>
            <a:spLocks noGrp="1"/>
          </p:cNvSpPr>
          <p:nvPr>
            <p:ph type="title"/>
          </p:nvPr>
        </p:nvSpPr>
        <p:spPr/>
        <p:txBody>
          <a:bodyPr/>
          <a:lstStyle/>
          <a:p>
            <a:r>
              <a:rPr lang="en-US" dirty="0" err="1"/>
              <a:t>Kết</a:t>
            </a:r>
            <a:r>
              <a:rPr lang="en-US" dirty="0"/>
              <a:t> </a:t>
            </a:r>
            <a:r>
              <a:rPr lang="en-US" dirty="0" err="1"/>
              <a:t>luận</a:t>
            </a:r>
            <a:endParaRPr lang="en-US" dirty="0"/>
          </a:p>
        </p:txBody>
      </p:sp>
      <p:sp>
        <p:nvSpPr>
          <p:cNvPr id="3" name="Content Placeholder 2">
            <a:extLst>
              <a:ext uri="{FF2B5EF4-FFF2-40B4-BE49-F238E27FC236}">
                <a16:creationId xmlns:a16="http://schemas.microsoft.com/office/drawing/2014/main" id="{B9C8929A-02A5-DB34-71A2-68264B5DCD48}"/>
              </a:ext>
            </a:extLst>
          </p:cNvPr>
          <p:cNvSpPr>
            <a:spLocks noGrp="1"/>
          </p:cNvSpPr>
          <p:nvPr>
            <p:ph idx="1"/>
          </p:nvPr>
        </p:nvSpPr>
        <p:spPr/>
        <p:txBody>
          <a:bodyPr/>
          <a:lstStyle/>
          <a:p>
            <a:r>
              <a:rPr lang="en-US" dirty="0"/>
              <a:t>Đạt </a:t>
            </a:r>
            <a:r>
              <a:rPr lang="en-US" dirty="0" err="1"/>
              <a:t>mục</a:t>
            </a:r>
            <a:r>
              <a:rPr lang="en-US" dirty="0"/>
              <a:t> </a:t>
            </a:r>
            <a:r>
              <a:rPr lang="en-US" dirty="0" err="1"/>
              <a:t>tiêu</a:t>
            </a:r>
            <a:r>
              <a:rPr lang="en-US" dirty="0"/>
              <a:t> </a:t>
            </a:r>
            <a:r>
              <a:rPr lang="en-US" dirty="0" err="1"/>
              <a:t>đề</a:t>
            </a:r>
            <a:r>
              <a:rPr lang="en-US" dirty="0"/>
              <a:t> </a:t>
            </a:r>
            <a:r>
              <a:rPr lang="en-US" dirty="0" err="1"/>
              <a:t>ra.</a:t>
            </a:r>
            <a:endParaRPr lang="en-US" dirty="0"/>
          </a:p>
          <a:p>
            <a:r>
              <a:rPr lang="en-US" dirty="0" err="1"/>
              <a:t>Dữ</a:t>
            </a:r>
            <a:r>
              <a:rPr lang="en-US" dirty="0"/>
              <a:t> </a:t>
            </a:r>
            <a:r>
              <a:rPr lang="en-US" dirty="0" err="1"/>
              <a:t>liệu</a:t>
            </a:r>
            <a:r>
              <a:rPr lang="en-US" dirty="0"/>
              <a:t> </a:t>
            </a:r>
            <a:r>
              <a:rPr lang="en-US" dirty="0" err="1"/>
              <a:t>tính</a:t>
            </a:r>
            <a:r>
              <a:rPr lang="en-US" dirty="0"/>
              <a:t> </a:t>
            </a:r>
            <a:r>
              <a:rPr lang="en-US" dirty="0" err="1"/>
              <a:t>toán</a:t>
            </a:r>
            <a:r>
              <a:rPr lang="en-US" dirty="0"/>
              <a:t> </a:t>
            </a:r>
            <a:r>
              <a:rPr lang="en-US" dirty="0" err="1"/>
              <a:t>đúng</a:t>
            </a:r>
            <a:r>
              <a:rPr lang="en-US" dirty="0"/>
              <a:t> </a:t>
            </a:r>
            <a:r>
              <a:rPr lang="en-US" dirty="0" err="1"/>
              <a:t>yêu</a:t>
            </a:r>
            <a:r>
              <a:rPr lang="en-US" dirty="0"/>
              <a:t> </a:t>
            </a:r>
            <a:r>
              <a:rPr lang="en-US" dirty="0" err="1"/>
              <a:t>cầu</a:t>
            </a:r>
            <a:r>
              <a:rPr lang="en-US" dirty="0"/>
              <a:t>.</a:t>
            </a:r>
          </a:p>
          <a:p>
            <a:r>
              <a:rPr lang="en-US" dirty="0" err="1"/>
              <a:t>Dữ</a:t>
            </a:r>
            <a:r>
              <a:rPr lang="en-US" dirty="0"/>
              <a:t> </a:t>
            </a:r>
            <a:r>
              <a:rPr lang="en-US" dirty="0" err="1"/>
              <a:t>liệu</a:t>
            </a:r>
            <a:r>
              <a:rPr lang="en-US" dirty="0"/>
              <a:t> </a:t>
            </a:r>
            <a:r>
              <a:rPr lang="en-US" dirty="0" err="1"/>
              <a:t>được</a:t>
            </a:r>
            <a:r>
              <a:rPr lang="en-US" dirty="0"/>
              <a:t> </a:t>
            </a:r>
            <a:r>
              <a:rPr lang="en-US" dirty="0" err="1"/>
              <a:t>trực</a:t>
            </a:r>
            <a:r>
              <a:rPr lang="en-US" dirty="0"/>
              <a:t> </a:t>
            </a:r>
            <a:r>
              <a:rPr lang="en-US" dirty="0" err="1"/>
              <a:t>quan</a:t>
            </a:r>
            <a:r>
              <a:rPr lang="en-US" dirty="0"/>
              <a:t> </a:t>
            </a:r>
            <a:r>
              <a:rPr lang="en-US" dirty="0" err="1"/>
              <a:t>hóa</a:t>
            </a:r>
            <a:r>
              <a:rPr lang="en-US" dirty="0"/>
              <a:t> </a:t>
            </a:r>
            <a:r>
              <a:rPr lang="en-US" dirty="0" err="1"/>
              <a:t>giúp</a:t>
            </a:r>
            <a:r>
              <a:rPr lang="en-US" dirty="0"/>
              <a:t> </a:t>
            </a:r>
            <a:r>
              <a:rPr lang="en-US" dirty="0" err="1"/>
              <a:t>quan</a:t>
            </a:r>
            <a:r>
              <a:rPr lang="en-US" dirty="0"/>
              <a:t> </a:t>
            </a:r>
            <a:r>
              <a:rPr lang="en-US" dirty="0" err="1"/>
              <a:t>sát</a:t>
            </a:r>
            <a:r>
              <a:rPr lang="en-US" dirty="0"/>
              <a:t> </a:t>
            </a:r>
            <a:r>
              <a:rPr lang="en-US" dirty="0" err="1"/>
              <a:t>kết</a:t>
            </a:r>
            <a:r>
              <a:rPr lang="en-US" dirty="0"/>
              <a:t> </a:t>
            </a:r>
            <a:r>
              <a:rPr lang="en-US" dirty="0" err="1"/>
              <a:t>quả</a:t>
            </a:r>
            <a:r>
              <a:rPr lang="en-US" dirty="0"/>
              <a:t>.</a:t>
            </a:r>
          </a:p>
        </p:txBody>
      </p:sp>
    </p:spTree>
    <p:extLst>
      <p:ext uri="{BB962C8B-B14F-4D97-AF65-F5344CB8AC3E}">
        <p14:creationId xmlns:p14="http://schemas.microsoft.com/office/powerpoint/2010/main" val="1377866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TotalTime>
  <Words>1152</Words>
  <Application>Microsoft Office PowerPoint</Application>
  <PresentationFormat>Widescreen</PresentationFormat>
  <Paragraphs>79</Paragraphs>
  <Slides>14</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Cambria Math</vt:lpstr>
      <vt:lpstr>Courier New</vt:lpstr>
      <vt:lpstr>Office Theme</vt:lpstr>
      <vt:lpstr>Khoa học dữ liệu</vt:lpstr>
      <vt:lpstr>Giới thiệu đề tài</vt:lpstr>
      <vt:lpstr>THỰC HIỆN ĐỀ TÀI</vt:lpstr>
      <vt:lpstr>Cell 1: Khởi tạo, Cấu hình Môi trường &amp; Phông chữ tiếng Việt</vt:lpstr>
      <vt:lpstr>Cell 2: Đọc dữ liệu từ nguồn</vt:lpstr>
      <vt:lpstr>Cell 3: Tiền xử lý dữ liệu động và tính toán điểm tích lũy theo năm học</vt:lpstr>
      <vt:lpstr>Cell 4: Khảo sát Số cụm Tối ưu K (Phương pháp Cùi chỏ - Elbow Method)</vt:lpstr>
      <vt:lpstr>Cell 5: Tính toán phân tích dữ liệu và thực hiện phân cụm.</vt:lpstr>
      <vt:lpstr>Cell 6: Trực quan hóa dữ liệu</vt:lpstr>
      <vt:lpstr>Cell 6: Trực quan hóa dữ liệu</vt:lpstr>
      <vt:lpstr>Cell 6: Trực quan hóa dữ liệu</vt:lpstr>
      <vt:lpstr>Cell 6: Trực quan hóa dữ liệu</vt:lpstr>
      <vt:lpstr>Cell 6: Trực quan hóa dữ liệu</vt:lpstr>
      <vt:lpstr>Kết luận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mh dg</dc:creator>
  <cp:lastModifiedBy>mh dg</cp:lastModifiedBy>
  <cp:revision>108</cp:revision>
  <dcterms:created xsi:type="dcterms:W3CDTF">2026-06-20T10:43:30Z</dcterms:created>
  <dcterms:modified xsi:type="dcterms:W3CDTF">2026-06-20T16:11:11Z</dcterms:modified>
</cp:coreProperties>
</file>